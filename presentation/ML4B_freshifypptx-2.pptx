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86" r:id="rId5"/>
    <p:sldId id="287" r:id="rId6"/>
    <p:sldId id="284" r:id="rId7"/>
    <p:sldId id="282" r:id="rId8"/>
    <p:sldId id="285" r:id="rId9"/>
  </p:sldIdLst>
  <p:sldSz cx="12192000" cy="6858000"/>
  <p:notesSz cx="6858000" cy="9144000"/>
  <p:custDataLst>
    <p:tags r:id="rId12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D32D3649-6967-4880-A223-E22E0991462A}">
          <p14:sldIdLst>
            <p14:sldId id="286"/>
            <p14:sldId id="287"/>
            <p14:sldId id="284"/>
            <p14:sldId id="282"/>
            <p14:sldId id="285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220C4A-E4CE-1E0C-75A7-40AC1B2C337E}" name="Sallweck, Florian" initials="FS" userId="S::ex97ocyj@fauad.fau.de::9ba5b27a-2145-477e-83f1-024b8ff65923" providerId="AD"/>
  <p188:author id="{76AC0F60-7603-3B95-9D08-5E9BD1DB4BB3}" name="Aldebert, Nicolas" initials="NA" userId="S::wu36xose@fauad.fau.de::f188cea8-a47b-431e-b3eb-ddb073b8786f" providerId="AD"/>
  <p188:author id="{E29CE4DC-4418-1297-7CB4-2501753F6E4B}" name="Julius Döbele" initials="JD" userId="beb2202a071feac1" providerId="Windows Live"/>
  <p188:author id="{5B3BACFB-5D42-8925-B6AC-D93286551AE5}" name="Jerome Scheuermann" initials="JS" userId="791ac2058bebd1e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DC8A"/>
    <a:srgbClr val="004620"/>
    <a:srgbClr val="F5F5F5"/>
    <a:srgbClr val="122D21"/>
    <a:srgbClr val="72AA89"/>
    <a:srgbClr val="009E47"/>
    <a:srgbClr val="FFFFFF"/>
    <a:srgbClr val="121E17"/>
    <a:srgbClr val="355944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66AC94-DCA4-4FAD-B84C-BD836959783B}" v="4" dt="2026-06-25T23:12:06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B91A-38A4-4B19-CD61-2D08C8A7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C2CB4AE-1791-7716-C1E4-5A0467284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7038B43-7D1D-2958-429A-5D387C4DC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7B9A7C-2502-9760-A1D0-266654522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F93703-73BA-47D5-8B02-C172375928D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5004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solidFill>
            <a:schemeClr val="tx1"/>
          </a:soli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F2A3F018-3284-158B-E256-84F366BCC3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86FD288-F158-865D-4D2A-54C701BDC8F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4D4A3B76-AAE2-589A-481C-5899CF9B90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831882"/>
            <a:ext cx="11157745" cy="43688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4F9FA31A-5681-4FDF-43AF-6223713A0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397ACD6-6CBA-E59D-11F3-6B4ACB993C60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7EF160D0-08A8-6AD5-9305-2F4E5384259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987E5DE-5C71-851C-A61C-464FC499C1B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5" name="Datumsplatzhalter 1">
            <a:extLst>
              <a:ext uri="{FF2B5EF4-FFF2-40B4-BE49-F238E27FC236}">
                <a16:creationId xmlns:a16="http://schemas.microsoft.com/office/drawing/2014/main" id="{51858967-1CA9-6CEE-ED50-D1AA5A7A27A3}"/>
              </a:ext>
            </a:extLst>
          </p:cNvPr>
          <p:cNvSpPr txBox="1">
            <a:spLocks/>
          </p:cNvSpPr>
          <p:nvPr userDrawn="1"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3C944DE9-A8E2-469B-189A-FE11E13F84AA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6"/>
            <a:ext cx="243269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7" name="Foliennummernplatzhalter 3">
            <a:extLst>
              <a:ext uri="{FF2B5EF4-FFF2-40B4-BE49-F238E27FC236}">
                <a16:creationId xmlns:a16="http://schemas.microsoft.com/office/drawing/2014/main" id="{95D1214E-F86E-D7B1-C9FE-876B0618EE44}"/>
              </a:ext>
            </a:extLst>
          </p:cNvPr>
          <p:cNvSpPr txBox="1">
            <a:spLocks/>
          </p:cNvSpPr>
          <p:nvPr userDrawn="1"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985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35019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B1FDB65-A456-4049-8E16-FA93963151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737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92" name="Rechteck 55">
            <a:extLst>
              <a:ext uri="{FF2B5EF4-FFF2-40B4-BE49-F238E27FC236}">
                <a16:creationId xmlns:a16="http://schemas.microsoft.com/office/drawing/2014/main" id="{3E1B12BE-3AF2-49B6-AE61-ED81E4BFC894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26AD82F-69E3-0D2F-2673-59391B65AA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6289621-CED7-1FFD-D1E6-F0E792E1A9B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7BA24D3B-7C1B-F0BD-FC47-DEF2E796CA9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5489CC8-5B43-9C3B-C31E-A2AF63A370FC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13" name="Datumsplatzhalter 1">
            <a:extLst>
              <a:ext uri="{FF2B5EF4-FFF2-40B4-BE49-F238E27FC236}">
                <a16:creationId xmlns:a16="http://schemas.microsoft.com/office/drawing/2014/main" id="{56098D4E-CA00-97EA-D139-8F442D827B8D}"/>
              </a:ext>
            </a:extLst>
          </p:cNvPr>
          <p:cNvSpPr txBox="1">
            <a:spLocks/>
          </p:cNvSpPr>
          <p:nvPr userDrawn="1"/>
        </p:nvSpPr>
        <p:spPr>
          <a:xfrm>
            <a:off x="10644979" y="6634666"/>
            <a:ext cx="621965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8B4CEB2F-FECA-3AD2-CCDD-414CC9BD1084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7"/>
            <a:ext cx="319854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 sz="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sz="80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 sz="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Foliennummernplatzhalter 3">
            <a:extLst>
              <a:ext uri="{FF2B5EF4-FFF2-40B4-BE49-F238E27FC236}">
                <a16:creationId xmlns:a16="http://schemas.microsoft.com/office/drawing/2014/main" id="{419E3528-D6F0-3AC1-1919-57C6BBCD3804}"/>
              </a:ext>
            </a:extLst>
          </p:cNvPr>
          <p:cNvSpPr txBox="1">
            <a:spLocks/>
          </p:cNvSpPr>
          <p:nvPr userDrawn="1"/>
        </p:nvSpPr>
        <p:spPr>
          <a:xfrm>
            <a:off x="11472481" y="6634666"/>
            <a:ext cx="203582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585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8EC489F-F71C-4659-9116-2F6E62F5F9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3709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68985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E888C2E5-BE70-41A9-A2DE-FD8C4043AF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83881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6769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9628F4C-9498-4F7E-80AA-A9A50B3818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83635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556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1FE3678F-E977-4C19-90B6-B0E629A1CC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042392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E5921DB5-C487-446D-8EFE-53C3F04AF6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4209080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6AAB2FBA-AC5D-4A9E-A6B0-6FC88EB49D7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7503199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1D129A85-2DE5-4A1E-9787-1EAAF84A55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91023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1D129A85-2DE5-4A1E-9787-1EAAF84A55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0053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BEB0DE0-0528-4763-98E8-6E08E83F85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3223519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Blau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3" name="Rechteck 55">
            <a:extLst>
              <a:ext uri="{FF2B5EF4-FFF2-40B4-BE49-F238E27FC236}">
                <a16:creationId xmlns:a16="http://schemas.microsoft.com/office/drawing/2014/main" id="{D46001CE-3431-4327-A63B-C690A9725E0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E5CDBE0-0413-94EA-A9F0-3107AC0A65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7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042E1E51-BB05-4BC9-B9E7-88B48544B4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603793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042E1E51-BB05-4BC9-B9E7-88B48544B48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8" y="687598"/>
            <a:ext cx="6844386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rgbClr val="36DC8A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10155821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Pr>
        <a:solidFill>
          <a:srgbClr val="121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rgbClr val="04316A">
                  <a:alpha val="50000"/>
                </a:srgb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94" name="Rechteck 55">
            <a:extLst>
              <a:ext uri="{FF2B5EF4-FFF2-40B4-BE49-F238E27FC236}">
                <a16:creationId xmlns:a16="http://schemas.microsoft.com/office/drawing/2014/main" id="{B748384D-51B7-4E9F-A7CE-C3AF2A61DE4A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6907A5E-781C-32BB-A312-07E731B389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912" y="277258"/>
            <a:ext cx="900499" cy="33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471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548C0FD5-5EE2-47CF-A76A-3FDF269DAB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38234138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408" imgH="408" progId="TCLayout.ActiveDocument.1">
                  <p:embed/>
                </p:oleObj>
              </mc:Choice>
              <mc:Fallback>
                <p:oleObj name="think-cell Folie" r:id="rId23" imgW="408" imgH="408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8C0FD5-5EE2-47CF-A76A-3FDF269DA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-4209175" y="1196733"/>
            <a:ext cx="11676062" cy="72000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75AC1209-5A20-49B6-B381-F46FBBEFDCD4}"/>
              </a:ext>
            </a:extLst>
          </p:cNvPr>
          <p:cNvSpPr/>
          <p:nvPr userDrawn="1"/>
        </p:nvSpPr>
        <p:spPr>
          <a:xfrm>
            <a:off x="-2371892" y="2234398"/>
            <a:ext cx="923636" cy="629752"/>
          </a:xfrm>
          <a:prstGeom prst="rect">
            <a:avLst/>
          </a:prstGeom>
          <a:solidFill>
            <a:srgbClr val="3559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F65663-E2DB-47BF-9F65-EA4108799799}"/>
              </a:ext>
            </a:extLst>
          </p:cNvPr>
          <p:cNvSpPr/>
          <p:nvPr userDrawn="1"/>
        </p:nvSpPr>
        <p:spPr>
          <a:xfrm>
            <a:off x="-1413497" y="2233454"/>
            <a:ext cx="923636" cy="629752"/>
          </a:xfrm>
          <a:prstGeom prst="rect">
            <a:avLst/>
          </a:prstGeom>
          <a:solidFill>
            <a:srgbClr val="009E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CEF66B-11C6-4062-8F91-4F82714B1837}"/>
              </a:ext>
            </a:extLst>
          </p:cNvPr>
          <p:cNvSpPr/>
          <p:nvPr userDrawn="1"/>
        </p:nvSpPr>
        <p:spPr>
          <a:xfrm>
            <a:off x="-1413497" y="1561892"/>
            <a:ext cx="923636" cy="629752"/>
          </a:xfrm>
          <a:prstGeom prst="rect">
            <a:avLst/>
          </a:prstGeom>
          <a:solidFill>
            <a:srgbClr val="0046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D385067-D55D-4177-B90B-8A488E595793}"/>
              </a:ext>
            </a:extLst>
          </p:cNvPr>
          <p:cNvSpPr/>
          <p:nvPr userDrawn="1"/>
        </p:nvSpPr>
        <p:spPr>
          <a:xfrm>
            <a:off x="-2379432" y="2905488"/>
            <a:ext cx="923636" cy="629752"/>
          </a:xfrm>
          <a:prstGeom prst="rect">
            <a:avLst/>
          </a:prstGeom>
          <a:solidFill>
            <a:srgbClr val="36DC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C201D49-EC84-47FB-A60B-22FD42C0CE50}"/>
              </a:ext>
            </a:extLst>
          </p:cNvPr>
          <p:cNvSpPr/>
          <p:nvPr userDrawn="1"/>
        </p:nvSpPr>
        <p:spPr>
          <a:xfrm>
            <a:off x="-1413497" y="2905016"/>
            <a:ext cx="923636" cy="6297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241A9D-283B-4A5C-BED3-A3FFAB3AA096}"/>
              </a:ext>
            </a:extLst>
          </p:cNvPr>
          <p:cNvSpPr/>
          <p:nvPr userDrawn="1"/>
        </p:nvSpPr>
        <p:spPr>
          <a:xfrm>
            <a:off x="-2379432" y="3576577"/>
            <a:ext cx="923636" cy="6297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C19A502-4C4B-47C1-8241-687B0EE0506C}"/>
              </a:ext>
            </a:extLst>
          </p:cNvPr>
          <p:cNvSpPr/>
          <p:nvPr userDrawn="1"/>
        </p:nvSpPr>
        <p:spPr>
          <a:xfrm>
            <a:off x="-1413497" y="3576577"/>
            <a:ext cx="923636" cy="629752"/>
          </a:xfrm>
          <a:prstGeom prst="rect">
            <a:avLst/>
          </a:prstGeom>
          <a:solidFill>
            <a:srgbClr val="72AA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231223A-25B7-4ABC-9D28-7EC7352E8A8D}"/>
              </a:ext>
            </a:extLst>
          </p:cNvPr>
          <p:cNvSpPr/>
          <p:nvPr userDrawn="1"/>
        </p:nvSpPr>
        <p:spPr>
          <a:xfrm>
            <a:off x="-2371892" y="1563308"/>
            <a:ext cx="923636" cy="629752"/>
          </a:xfrm>
          <a:prstGeom prst="rect">
            <a:avLst/>
          </a:prstGeom>
          <a:solidFill>
            <a:srgbClr val="121E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B2E7587B-87EE-2D7C-EE31-61E4058487F9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912" y="277258"/>
            <a:ext cx="900499" cy="332399"/>
          </a:xfrm>
          <a:prstGeom prst="rect">
            <a:avLst/>
          </a:prstGeom>
        </p:spPr>
      </p:pic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38A6813-C071-35E8-6EC8-BC7143A0CDE2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63B2E9C5-05AA-0EF7-582F-E28B3B973D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noFill/>
            <a:ln w="635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</p:cxn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D47FAF0-4A33-58AA-69BE-7EF18F11AFAC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07,70</a:t>
              </a:r>
            </a:p>
          </p:txBody>
        </p:sp>
      </p:grpSp>
      <p:grpSp>
        <p:nvGrpSpPr>
          <p:cNvPr id="65" name="Gruppieren 64">
            <a:extLst>
              <a:ext uri="{FF2B5EF4-FFF2-40B4-BE49-F238E27FC236}">
                <a16:creationId xmlns:a16="http://schemas.microsoft.com/office/drawing/2014/main" id="{539204C3-8BA4-6796-20CE-68A2B1EA0BAC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51B37C2F-1C22-BDB8-7587-2A89BC51F0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noFill/>
            <a:ln w="6350" cap="flat" cmpd="sng" algn="ctr">
              <a:solidFill>
                <a:srgbClr val="4D4D4D"/>
              </a:solidFill>
              <a:prstDash val="solid"/>
              <a:miter lim="800000"/>
            </a:ln>
            <a:effectLst/>
          </p:spPr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5A10B0CD-E525-5D18-4111-97EF4611659A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de-DE" sz="800" b="0" i="0" u="none" strike="noStrike" kern="0" cap="none" spc="0" normalizeH="0" baseline="0" noProof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</a:rPr>
                <a:t>08,90</a:t>
              </a:r>
            </a:p>
          </p:txBody>
        </p:sp>
      </p:grpSp>
      <p:sp>
        <p:nvSpPr>
          <p:cNvPr id="68" name="Datumsplatzhalter 1">
            <a:extLst>
              <a:ext uri="{FF2B5EF4-FFF2-40B4-BE49-F238E27FC236}">
                <a16:creationId xmlns:a16="http://schemas.microsoft.com/office/drawing/2014/main" id="{EBE7BA3F-6DFA-2010-12EC-8B4D118717B3}"/>
              </a:ext>
            </a:extLst>
          </p:cNvPr>
          <p:cNvSpPr txBox="1">
            <a:spLocks/>
          </p:cNvSpPr>
          <p:nvPr userDrawn="1"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Fußzeilenplatzhalter 2">
            <a:extLst>
              <a:ext uri="{FF2B5EF4-FFF2-40B4-BE49-F238E27FC236}">
                <a16:creationId xmlns:a16="http://schemas.microsoft.com/office/drawing/2014/main" id="{1105FF20-A0AA-065E-8AE4-8233925C8017}"/>
              </a:ext>
            </a:extLst>
          </p:cNvPr>
          <p:cNvSpPr txBox="1">
            <a:spLocks/>
          </p:cNvSpPr>
          <p:nvPr userDrawn="1"/>
        </p:nvSpPr>
        <p:spPr>
          <a:xfrm>
            <a:off x="518319" y="6634666"/>
            <a:ext cx="2432699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</a:t>
            </a:r>
          </a:p>
        </p:txBody>
      </p:sp>
      <p:sp>
        <p:nvSpPr>
          <p:cNvPr id="70" name="Foliennummernplatzhalter 3">
            <a:extLst>
              <a:ext uri="{FF2B5EF4-FFF2-40B4-BE49-F238E27FC236}">
                <a16:creationId xmlns:a16="http://schemas.microsoft.com/office/drawing/2014/main" id="{F73F36B0-3578-B0A9-C26F-DF070B0A0C41}"/>
              </a:ext>
            </a:extLst>
          </p:cNvPr>
          <p:cNvSpPr txBox="1">
            <a:spLocks/>
          </p:cNvSpPr>
          <p:nvPr userDrawn="1"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60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0" r:id="rId4"/>
    <p:sldLayoutId id="2147483651" r:id="rId5"/>
    <p:sldLayoutId id="2147483652" r:id="rId6"/>
    <p:sldLayoutId id="2147483656" r:id="rId7"/>
    <p:sldLayoutId id="2147483668" r:id="rId8"/>
    <p:sldLayoutId id="2147483669" r:id="rId9"/>
    <p:sldLayoutId id="2147483666" r:id="rId10"/>
    <p:sldLayoutId id="2147483653" r:id="rId11"/>
    <p:sldLayoutId id="2147483654" r:id="rId12"/>
    <p:sldLayoutId id="2147483655" r:id="rId13"/>
    <p:sldLayoutId id="2147483661" r:id="rId14"/>
    <p:sldLayoutId id="2147483671" r:id="rId15"/>
    <p:sldLayoutId id="2147483665" r:id="rId16"/>
    <p:sldLayoutId id="2147483658" r:id="rId17"/>
    <p:sldLayoutId id="2147483657" r:id="rId18"/>
    <p:sldLayoutId id="2147483670" r:id="rId19"/>
    <p:sldLayoutId id="2147483659" r:id="rId2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121E17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799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0" pos="3908" userDrawn="1">
          <p15:clr>
            <a:srgbClr val="F26B43"/>
          </p15:clr>
        </p15:guide>
        <p15:guide id="11" pos="37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microsoft.com/office/2007/relationships/media" Target="../media/media2.mp4"/><Relationship Id="rId7" Type="http://schemas.openxmlformats.org/officeDocument/2006/relationships/image" Target="../media/image8.sv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notesSlide" Target="../notesSlides/notesSlide1.xml"/><Relationship Id="rId10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hyperlink" Target="https://github.com/Timbakimbo/Food_Freshness_Categorizer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freshify.streamlit.app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84D0F-6D63-AD30-BF06-72CF6E9D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30FB7CB-BC88-745F-4776-BA0BACF91A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D3DE58-D35A-EDDB-19D9-28340E94FC4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6" y="687598"/>
            <a:ext cx="8719201" cy="249812"/>
          </a:xfrm>
        </p:spPr>
        <p:txBody>
          <a:bodyPr/>
          <a:lstStyle/>
          <a:p>
            <a:r>
              <a:rPr lang="de-DE"/>
              <a:t>Projekt des </a:t>
            </a:r>
            <a:r>
              <a:rPr lang="de-DE" b="1"/>
              <a:t>P-Teams</a:t>
            </a:r>
            <a:r>
              <a:rPr lang="de-DE"/>
              <a:t> im Rahmen von ML4B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73529A-C66C-9AC9-3EFC-BBD9C9F0F7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697" y="1824625"/>
            <a:ext cx="11782096" cy="4542513"/>
          </a:xfrm>
        </p:spPr>
        <p:txBody>
          <a:bodyPr>
            <a:normAutofit/>
          </a:bodyPr>
          <a:lstStyle/>
          <a:p>
            <a:endParaRPr lang="de-DE">
              <a:cs typeface="Arial"/>
            </a:endParaRPr>
          </a:p>
          <a:p>
            <a:pPr marL="342900" indent="-342900">
              <a:buAutoNum type="arabicPeriod"/>
            </a:pPr>
            <a:endParaRPr lang="de-DE">
              <a:cs typeface="Arial"/>
            </a:endParaRPr>
          </a:p>
          <a:p>
            <a:endParaRPr lang="de-DE">
              <a:cs typeface="Arial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0A93CAE-60DC-713B-DBB8-9405C0311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ML-Applikation </a:t>
            </a:r>
            <a:r>
              <a:rPr lang="de-DE" err="1"/>
              <a:t>fresh</a:t>
            </a:r>
            <a:r>
              <a:rPr lang="de-DE" err="1">
                <a:solidFill>
                  <a:srgbClr val="36DC8A"/>
                </a:solidFill>
              </a:rPr>
              <a:t>ify</a:t>
            </a:r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6514967-1303-FFCD-934F-A461498AAA05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1A142D-987D-4801-02DA-709FAAFD93FD}"/>
              </a:ext>
            </a:extLst>
          </p:cNvPr>
          <p:cNvGrpSpPr/>
          <p:nvPr/>
        </p:nvGrpSpPr>
        <p:grpSpPr>
          <a:xfrm>
            <a:off x="1323807" y="3922739"/>
            <a:ext cx="9544385" cy="2284480"/>
            <a:chOff x="893618" y="3428999"/>
            <a:chExt cx="8832273" cy="2163511"/>
          </a:xfrm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CDD63219-7080-5E38-63CF-E49AB0ED7CF5}"/>
                </a:ext>
              </a:extLst>
            </p:cNvPr>
            <p:cNvSpPr/>
            <p:nvPr/>
          </p:nvSpPr>
          <p:spPr>
            <a:xfrm>
              <a:off x="893618" y="3428999"/>
              <a:ext cx="8832273" cy="2163511"/>
            </a:xfrm>
            <a:prstGeom prst="roundRect">
              <a:avLst/>
            </a:prstGeom>
            <a:solidFill>
              <a:srgbClr val="122D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9F5FA127-AA0B-E744-696C-407312332504}"/>
                </a:ext>
              </a:extLst>
            </p:cNvPr>
            <p:cNvSpPr/>
            <p:nvPr/>
          </p:nvSpPr>
          <p:spPr>
            <a:xfrm>
              <a:off x="1093790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DC60692B-972A-4AEC-3370-178F685B3763}"/>
                </a:ext>
              </a:extLst>
            </p:cNvPr>
            <p:cNvSpPr/>
            <p:nvPr/>
          </p:nvSpPr>
          <p:spPr>
            <a:xfrm>
              <a:off x="2804827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19DB5ABB-4532-0F1D-B624-5D6724466DB3}"/>
                </a:ext>
              </a:extLst>
            </p:cNvPr>
            <p:cNvSpPr/>
            <p:nvPr/>
          </p:nvSpPr>
          <p:spPr>
            <a:xfrm>
              <a:off x="4515864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0BB073BF-1F44-7C66-5E84-08260BA39E55}"/>
                </a:ext>
              </a:extLst>
            </p:cNvPr>
            <p:cNvSpPr/>
            <p:nvPr/>
          </p:nvSpPr>
          <p:spPr>
            <a:xfrm>
              <a:off x="6226901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C24B2757-764F-7A6A-E897-7A58102EC8EA}"/>
                </a:ext>
              </a:extLst>
            </p:cNvPr>
            <p:cNvSpPr/>
            <p:nvPr/>
          </p:nvSpPr>
          <p:spPr>
            <a:xfrm>
              <a:off x="7937938" y="4085009"/>
              <a:ext cx="1579418" cy="1371600"/>
            </a:xfrm>
            <a:prstGeom prst="roundRect">
              <a:avLst/>
            </a:prstGeom>
            <a:noFill/>
            <a:ln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3073643D-6245-9AD6-B237-5E9FEEB95DB0}"/>
                </a:ext>
              </a:extLst>
            </p:cNvPr>
            <p:cNvCxnSpPr>
              <a:cxnSpLocks/>
              <a:stCxn id="12" idx="3"/>
              <a:endCxn id="13" idx="1"/>
            </p:cNvCxnSpPr>
            <p:nvPr/>
          </p:nvCxnSpPr>
          <p:spPr>
            <a:xfrm>
              <a:off x="2673208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554CBDED-A7B5-5AEA-C962-887FC9C892BE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>
              <a:off x="4384245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8DE397F-DB7E-FEFF-06EA-7CF5F2E1F4D3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7806319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Grafik 19" descr="Bild Silhouette">
              <a:extLst>
                <a:ext uri="{FF2B5EF4-FFF2-40B4-BE49-F238E27FC236}">
                  <a16:creationId xmlns:a16="http://schemas.microsoft.com/office/drawing/2014/main" id="{51507132-9C3A-E4FA-4F8C-22744205DF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20403" y="4085009"/>
              <a:ext cx="914400" cy="914400"/>
            </a:xfrm>
            <a:prstGeom prst="rect">
              <a:avLst/>
            </a:prstGeom>
          </p:spPr>
        </p:pic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B9EC7D3B-DF69-6729-D9F8-FBC32F62F66D}"/>
                </a:ext>
              </a:extLst>
            </p:cNvPr>
            <p:cNvGrpSpPr/>
            <p:nvPr/>
          </p:nvGrpSpPr>
          <p:grpSpPr>
            <a:xfrm>
              <a:off x="3343080" y="4260391"/>
              <a:ext cx="502912" cy="526473"/>
              <a:chOff x="3353099" y="4244336"/>
              <a:chExt cx="502912" cy="526473"/>
            </a:xfrm>
          </p:grpSpPr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D78754EB-DFD4-55B4-7F21-EC7BBD4DB314}"/>
                  </a:ext>
                </a:extLst>
              </p:cNvPr>
              <p:cNvSpPr/>
              <p:nvPr/>
            </p:nvSpPr>
            <p:spPr>
              <a:xfrm>
                <a:off x="3353099" y="4244336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D50C3681-B485-F6CD-298C-1F834E361180}"/>
                  </a:ext>
                </a:extLst>
              </p:cNvPr>
              <p:cNvSpPr/>
              <p:nvPr/>
            </p:nvSpPr>
            <p:spPr>
              <a:xfrm>
                <a:off x="3505499" y="4396736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9D60CFC2-A8C2-7E09-120D-2EA3BB233DE1}"/>
                </a:ext>
              </a:extLst>
            </p:cNvPr>
            <p:cNvSpPr/>
            <p:nvPr/>
          </p:nvSpPr>
          <p:spPr>
            <a:xfrm>
              <a:off x="5130317" y="4336592"/>
              <a:ext cx="350512" cy="374073"/>
            </a:xfrm>
            <a:prstGeom prst="rect">
              <a:avLst/>
            </a:prstGeom>
            <a:noFill/>
            <a:ln w="28575">
              <a:solidFill>
                <a:srgbClr val="36DC8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3" name="Grafik 22" descr="Illustrator Silhouette">
              <a:extLst>
                <a:ext uri="{FF2B5EF4-FFF2-40B4-BE49-F238E27FC236}">
                  <a16:creationId xmlns:a16="http://schemas.microsoft.com/office/drawing/2014/main" id="{256E31CE-9258-6F19-68DE-096B62CE5D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65148" y="4085009"/>
              <a:ext cx="914400" cy="914400"/>
            </a:xfrm>
            <a:prstGeom prst="rect">
              <a:avLst/>
            </a:prstGeom>
          </p:spPr>
        </p:pic>
        <p:grpSp>
          <p:nvGrpSpPr>
            <p:cNvPr id="24" name="Gruppieren 23">
              <a:extLst>
                <a:ext uri="{FF2B5EF4-FFF2-40B4-BE49-F238E27FC236}">
                  <a16:creationId xmlns:a16="http://schemas.microsoft.com/office/drawing/2014/main" id="{9336E51D-BEA7-C90B-FE8F-8FC3345BA2B2}"/>
                </a:ext>
              </a:extLst>
            </p:cNvPr>
            <p:cNvGrpSpPr/>
            <p:nvPr/>
          </p:nvGrpSpPr>
          <p:grpSpPr>
            <a:xfrm>
              <a:off x="8356123" y="4260391"/>
              <a:ext cx="748412" cy="468854"/>
              <a:chOff x="10100637" y="4260391"/>
              <a:chExt cx="748412" cy="468854"/>
            </a:xfrm>
          </p:grpSpPr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AB886C74-87BC-5881-079E-CBA17320371B}"/>
                  </a:ext>
                </a:extLst>
              </p:cNvPr>
              <p:cNvSpPr/>
              <p:nvPr/>
            </p:nvSpPr>
            <p:spPr>
              <a:xfrm>
                <a:off x="10100637" y="4260391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36DC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C893979E-913A-8C4B-B257-1AD90A828B82}"/>
                  </a:ext>
                </a:extLst>
              </p:cNvPr>
              <p:cNvSpPr/>
              <p:nvPr/>
            </p:nvSpPr>
            <p:spPr>
              <a:xfrm>
                <a:off x="10498537" y="4355172"/>
                <a:ext cx="350512" cy="37407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ctr"/>
              <a:lstStyle/>
              <a:p>
                <a:pPr marL="0" marR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Tx/>
                  <a:buSzTx/>
                  <a:buFont typeface="Arial" panose="020B0604020202020204" pitchFamily="34" charset="0"/>
                  <a:buNone/>
                  <a:tabLst/>
                </a:pPr>
                <a:endParaRPr kumimoji="0" lang="de-DE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0D1F3D9F-24F4-5A9E-D0F6-D36DB5F4BDCC}"/>
                </a:ext>
              </a:extLst>
            </p:cNvPr>
            <p:cNvCxnSpPr>
              <a:cxnSpLocks/>
              <a:stCxn id="14" idx="3"/>
              <a:endCxn id="15" idx="1"/>
            </p:cNvCxnSpPr>
            <p:nvPr/>
          </p:nvCxnSpPr>
          <p:spPr>
            <a:xfrm>
              <a:off x="6095282" y="4770809"/>
              <a:ext cx="131619" cy="0"/>
            </a:xfrm>
            <a:prstGeom prst="line">
              <a:avLst/>
            </a:prstGeom>
            <a:ln w="12700">
              <a:solidFill>
                <a:srgbClr val="36DC8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B437A0C7-80F2-AC54-D8AC-9FFE2B3A4CB9}"/>
                </a:ext>
              </a:extLst>
            </p:cNvPr>
            <p:cNvSpPr txBox="1"/>
            <p:nvPr/>
          </p:nvSpPr>
          <p:spPr>
            <a:xfrm>
              <a:off x="1387082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Input</a:t>
              </a:r>
              <a:br>
                <a:rPr lang="de-DE" sz="1200" b="1">
                  <a:latin typeface="Arial"/>
                  <a:cs typeface="Arial"/>
                </a:rPr>
              </a:br>
              <a:r>
                <a:rPr lang="de-DE" sz="1200">
                  <a:latin typeface="Arial"/>
                </a:rPr>
                <a:t>Bilddatei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F36AB35-E30D-AD07-9D20-F451DC07F02D}"/>
                </a:ext>
              </a:extLst>
            </p:cNvPr>
            <p:cNvSpPr txBox="1"/>
            <p:nvPr/>
          </p:nvSpPr>
          <p:spPr>
            <a:xfrm>
              <a:off x="3055787" y="4995665"/>
              <a:ext cx="1116078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Preprocessing</a:t>
              </a:r>
              <a:br>
                <a:rPr lang="de-DE" sz="1200" b="1">
                  <a:latin typeface="Arial"/>
                  <a:cs typeface="Arial"/>
                </a:rPr>
              </a:br>
              <a:r>
                <a:rPr lang="de-DE" sz="1200">
                  <a:latin typeface="Arial"/>
                  <a:cs typeface="Arial"/>
                </a:rPr>
                <a:t>Segmente</a:t>
              </a:r>
              <a:endParaRPr lang="de-DE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C4E1763-DF70-48E1-855C-00CD0B2D33A4}"/>
                </a:ext>
              </a:extLst>
            </p:cNvPr>
            <p:cNvSpPr txBox="1"/>
            <p:nvPr/>
          </p:nvSpPr>
          <p:spPr>
            <a:xfrm>
              <a:off x="4813711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 err="1">
                  <a:latin typeface="Arial"/>
                </a:rPr>
                <a:t>Preprocessing</a:t>
              </a:r>
              <a:br>
                <a:rPr lang="de-DE" sz="1200">
                  <a:latin typeface="Arial"/>
                </a:rPr>
              </a:br>
              <a:r>
                <a:rPr lang="de-DE" sz="1200">
                  <a:cs typeface="Arial"/>
                </a:rPr>
                <a:t>Crop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713C39FE-57A0-F34C-FB49-2AC1F48B7C7D}"/>
                </a:ext>
              </a:extLst>
            </p:cNvPr>
            <p:cNvSpPr txBox="1"/>
            <p:nvPr/>
          </p:nvSpPr>
          <p:spPr>
            <a:xfrm>
              <a:off x="6236722" y="4995665"/>
              <a:ext cx="1569420" cy="37258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err="1">
                  <a:latin typeface="Arial"/>
                </a:rPr>
                <a:t>Klassifizierer</a:t>
              </a:r>
              <a:br>
                <a:rPr lang="de-DE" sz="1200">
                  <a:latin typeface="Arial"/>
                  <a:cs typeface="Arial"/>
                </a:rPr>
              </a:br>
              <a:r>
                <a:rPr lang="de-DE" sz="1200" b="1" err="1">
                  <a:latin typeface="Arial"/>
                  <a:cs typeface="Arial"/>
                </a:rPr>
                <a:t>edible</a:t>
              </a:r>
              <a:r>
                <a:rPr lang="de-DE" sz="1200" b="1">
                  <a:latin typeface="Arial"/>
                  <a:cs typeface="Arial"/>
                </a:rPr>
                <a:t> / non_edible</a:t>
              </a:r>
              <a:endParaRPr lang="de-DE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F7D56F71-5FAE-B441-D8A2-4E57765E4C23}"/>
                </a:ext>
              </a:extLst>
            </p:cNvPr>
            <p:cNvSpPr txBox="1"/>
            <p:nvPr/>
          </p:nvSpPr>
          <p:spPr>
            <a:xfrm>
              <a:off x="8216114" y="4995665"/>
              <a:ext cx="981041" cy="3458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10000"/>
                </a:lnSpc>
                <a:spcAft>
                  <a:spcPts val="1200"/>
                </a:spcAft>
              </a:pPr>
              <a:r>
                <a:rPr lang="de-DE" sz="1200" b="1">
                  <a:latin typeface="Arial"/>
                </a:rPr>
                <a:t>Output</a:t>
              </a:r>
              <a:r>
                <a:rPr lang="de-DE" sz="1200"/>
                <a:t> </a:t>
              </a:r>
              <a:br>
                <a:rPr lang="de-DE" sz="1200">
                  <a:latin typeface="Arial"/>
                </a:rPr>
              </a:br>
              <a:r>
                <a:rPr lang="de-DE" sz="1200">
                  <a:latin typeface="Arial"/>
                </a:rPr>
                <a:t>Bild + Overlay </a:t>
              </a:r>
              <a:endParaRPr kumimoji="0" lang="de-DE" sz="12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248FCD7F-D18E-7E25-7BE8-C916744EB412}"/>
                </a:ext>
              </a:extLst>
            </p:cNvPr>
            <p:cNvSpPr txBox="1"/>
            <p:nvPr/>
          </p:nvSpPr>
          <p:spPr>
            <a:xfrm>
              <a:off x="1093790" y="3592844"/>
              <a:ext cx="8309072" cy="2085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0000"/>
                </a:lnSpc>
                <a:spcAft>
                  <a:spcPts val="1200"/>
                </a:spcAft>
              </a:pPr>
              <a:r>
                <a:rPr lang="de-DE" sz="1400">
                  <a:latin typeface="Arial"/>
                </a:rPr>
                <a:t>Business Workflow: Binäre Bildklassifikation von Lebensmittelbildern</a:t>
              </a:r>
              <a:endParaRPr lang="de-DE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sp>
        <p:nvSpPr>
          <p:cNvPr id="41" name="Textplatzhalter 2">
            <a:extLst>
              <a:ext uri="{FF2B5EF4-FFF2-40B4-BE49-F238E27FC236}">
                <a16:creationId xmlns:a16="http://schemas.microsoft.com/office/drawing/2014/main" id="{326A9631-D294-62A1-46AE-330C9C2492DC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46AD3B2-6121-EA35-51C0-20869EF0A251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800">
                <a:solidFill>
                  <a:schemeClr val="accent4"/>
                </a:solidFill>
              </a:rPr>
              <a:t>Chapman, P., Clinton, J., Kerber, R., </a:t>
            </a:r>
            <a:r>
              <a:rPr lang="de-DE" sz="800" err="1">
                <a:solidFill>
                  <a:schemeClr val="accent4"/>
                </a:solidFill>
              </a:rPr>
              <a:t>Khabaza</a:t>
            </a:r>
            <a:r>
              <a:rPr lang="de-DE" sz="800">
                <a:solidFill>
                  <a:schemeClr val="accent4"/>
                </a:solidFill>
              </a:rPr>
              <a:t>, T., Reinartz, T., Shearer, C., &amp; Wirth, R. (2000). </a:t>
            </a:r>
            <a:r>
              <a:rPr lang="de-DE" sz="800" i="1">
                <a:solidFill>
                  <a:schemeClr val="accent4"/>
                </a:solidFill>
              </a:rPr>
              <a:t>CRISP-DM 1.0: </a:t>
            </a:r>
            <a:r>
              <a:rPr lang="de-DE" sz="800" i="1" err="1">
                <a:solidFill>
                  <a:schemeClr val="accent4"/>
                </a:solidFill>
              </a:rPr>
              <a:t>Step-by-step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data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mining</a:t>
            </a:r>
            <a:r>
              <a:rPr lang="de-DE" sz="800" i="1">
                <a:solidFill>
                  <a:schemeClr val="accent4"/>
                </a:solidFill>
              </a:rPr>
              <a:t> </a:t>
            </a:r>
            <a:r>
              <a:rPr lang="de-DE" sz="800" i="1" err="1">
                <a:solidFill>
                  <a:schemeClr val="accent4"/>
                </a:solidFill>
              </a:rPr>
              <a:t>guide</a:t>
            </a:r>
            <a:r>
              <a:rPr lang="de-DE" sz="800">
                <a:solidFill>
                  <a:schemeClr val="accent4"/>
                </a:solidFill>
              </a:rPr>
              <a:t>. CRISP-DM </a:t>
            </a:r>
            <a:r>
              <a:rPr lang="de-DE" sz="800" err="1">
                <a:solidFill>
                  <a:schemeClr val="accent4"/>
                </a:solidFill>
              </a:rPr>
              <a:t>Consortium</a:t>
            </a:r>
            <a:r>
              <a:rPr lang="de-DE" sz="800">
                <a:solidFill>
                  <a:schemeClr val="accent4"/>
                </a:solidFill>
              </a:rPr>
              <a:t>.</a:t>
            </a:r>
          </a:p>
        </p:txBody>
      </p:sp>
      <p:sp>
        <p:nvSpPr>
          <p:cNvPr id="44" name="Datumsplatzhalter 1">
            <a:extLst>
              <a:ext uri="{FF2B5EF4-FFF2-40B4-BE49-F238E27FC236}">
                <a16:creationId xmlns:a16="http://schemas.microsoft.com/office/drawing/2014/main" id="{E4BC0B17-E903-7315-152E-15379C6009CE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Fußzeilenplatzhalter 2">
            <a:extLst>
              <a:ext uri="{FF2B5EF4-FFF2-40B4-BE49-F238E27FC236}">
                <a16:creationId xmlns:a16="http://schemas.microsoft.com/office/drawing/2014/main" id="{7BF3FBA8-2978-FB71-58F0-59AC72101339}"/>
              </a:ext>
            </a:extLst>
          </p:cNvPr>
          <p:cNvSpPr txBox="1">
            <a:spLocks/>
          </p:cNvSpPr>
          <p:nvPr/>
        </p:nvSpPr>
        <p:spPr>
          <a:xfrm>
            <a:off x="518319" y="6634666"/>
            <a:ext cx="313928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Foliennummernplatzhalter 3">
            <a:extLst>
              <a:ext uri="{FF2B5EF4-FFF2-40B4-BE49-F238E27FC236}">
                <a16:creationId xmlns:a16="http://schemas.microsoft.com/office/drawing/2014/main" id="{095750D4-23A3-1967-5870-C5C9C3C2F4C6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Shape 3">
            <a:extLst>
              <a:ext uri="{FF2B5EF4-FFF2-40B4-BE49-F238E27FC236}">
                <a16:creationId xmlns:a16="http://schemas.microsoft.com/office/drawing/2014/main" id="{D729D2A4-BE6F-A09A-514E-B66892CDF506}"/>
              </a:ext>
            </a:extLst>
          </p:cNvPr>
          <p:cNvSpPr/>
          <p:nvPr/>
        </p:nvSpPr>
        <p:spPr>
          <a:xfrm>
            <a:off x="1095905" y="2255252"/>
            <a:ext cx="10000189" cy="1148683"/>
          </a:xfrm>
          <a:prstGeom prst="rect">
            <a:avLst/>
          </a:prstGeom>
          <a:solidFill>
            <a:srgbClr val="F5F5F5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600" b="1">
                <a:solidFill>
                  <a:srgbClr val="004620"/>
                </a:solidFill>
                <a:ea typeface="Calibri"/>
                <a:cs typeface="Calibri"/>
              </a:rPr>
              <a:t>	</a:t>
            </a:r>
            <a:r>
              <a:rPr lang="en-US" sz="1600" b="1" err="1">
                <a:solidFill>
                  <a:srgbClr val="004620"/>
                </a:solidFill>
                <a:ea typeface="Calibri"/>
                <a:cs typeface="Calibri"/>
              </a:rPr>
              <a:t>Forschungsfrage</a:t>
            </a:r>
            <a:endParaRPr lang="en-US" sz="1600" b="1">
              <a:solidFill>
                <a:srgbClr val="004620"/>
              </a:solidFill>
              <a:ea typeface="Calibri"/>
              <a:cs typeface="Calibri"/>
            </a:endParaRPr>
          </a:p>
          <a:p>
            <a:endParaRPr lang="de-DE" sz="18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de-DE" sz="1400">
                <a:solidFill>
                  <a:schemeClr val="bg1"/>
                </a:solidFill>
                <a:ea typeface="Calibri"/>
                <a:cs typeface="Calibri"/>
              </a:rPr>
              <a:t>	Kann ein leichtgewichtiges ML-Modell anhand ausschließlich visueller Merkmale in Bildern zuverlässig die 	Frische von Lebensmitteln klassifizieren?</a:t>
            </a:r>
          </a:p>
          <a:p>
            <a:endParaRPr lang="de-DE"/>
          </a:p>
        </p:txBody>
      </p:sp>
      <p:pic>
        <p:nvPicPr>
          <p:cNvPr id="50" name="Grafik 49" descr="Gehirn im Kopf Silhouette">
            <a:extLst>
              <a:ext uri="{FF2B5EF4-FFF2-40B4-BE49-F238E27FC236}">
                <a16:creationId xmlns:a16="http://schemas.microsoft.com/office/drawing/2014/main" id="{E96FBEF6-9D27-37CC-67F2-018A21BAA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6177" y="2376058"/>
            <a:ext cx="848872" cy="84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69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8DBA-7FFE-7A79-D881-4428AD30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6A25539-30E2-D87F-F78F-8541467015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43B7F4-A15F-74CF-6F87-CC1B5F13A05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6" y="687598"/>
            <a:ext cx="8719201" cy="249812"/>
          </a:xfrm>
        </p:spPr>
        <p:txBody>
          <a:bodyPr/>
          <a:lstStyle/>
          <a:p>
            <a:r>
              <a:rPr lang="de-DE"/>
              <a:t>Problemdefinition &amp; Business Use Cases</a:t>
            </a:r>
            <a:endParaRPr lang="de-DE">
              <a:cs typeface="Arial"/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78A87BF-BC71-25A6-71C0-B2B677C65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8582139" cy="332399"/>
          </a:xfrm>
        </p:spPr>
        <p:txBody>
          <a:bodyPr/>
          <a:lstStyle/>
          <a:p>
            <a:r>
              <a:rPr lang="de-DE"/>
              <a:t>Definition von Zielen und Rahmenbedingungen</a:t>
            </a:r>
            <a:endParaRPr lang="de-DE">
              <a:solidFill>
                <a:srgbClr val="36DC8A"/>
              </a:solidFill>
              <a:cs typeface="Arial"/>
            </a:endParaRP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0DEAFE1E-9AE4-03F5-528E-8023C324B2B3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4FF1A3CF-4482-539C-7AFF-FEB7129187EB}"/>
              </a:ext>
            </a:extLst>
          </p:cNvPr>
          <p:cNvSpPr txBox="1"/>
          <p:nvPr/>
        </p:nvSpPr>
        <p:spPr>
          <a:xfrm>
            <a:off x="4703865" y="3070464"/>
            <a:ext cx="3130473" cy="276999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200">
                <a:solidFill>
                  <a:schemeClr val="bg1"/>
                </a:solidFill>
              </a:rPr>
              <a:t>CRISP-DM: </a:t>
            </a:r>
            <a:r>
              <a:rPr lang="de-DE" sz="1200" b="1">
                <a:solidFill>
                  <a:schemeClr val="bg1"/>
                </a:solidFill>
              </a:rPr>
              <a:t>01 Business Understanding</a:t>
            </a:r>
            <a:endParaRPr lang="de-DE" sz="1200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6D229A7-5394-5144-F213-58F3243F0BD3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sp>
        <p:nvSpPr>
          <p:cNvPr id="17" name="Datumsplatzhalter 1">
            <a:extLst>
              <a:ext uri="{FF2B5EF4-FFF2-40B4-BE49-F238E27FC236}">
                <a16:creationId xmlns:a16="http://schemas.microsoft.com/office/drawing/2014/main" id="{CFA49CE6-AD8A-384D-62ED-F86143F3D068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655C872B-7B40-3582-4FDB-3ED17719B463}"/>
              </a:ext>
            </a:extLst>
          </p:cNvPr>
          <p:cNvSpPr txBox="1">
            <a:spLocks/>
          </p:cNvSpPr>
          <p:nvPr/>
        </p:nvSpPr>
        <p:spPr>
          <a:xfrm>
            <a:off x="518319" y="6634666"/>
            <a:ext cx="313928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Foliennummernplatzhalter 3">
            <a:extLst>
              <a:ext uri="{FF2B5EF4-FFF2-40B4-BE49-F238E27FC236}">
                <a16:creationId xmlns:a16="http://schemas.microsoft.com/office/drawing/2014/main" id="{A4D7B6C7-29AE-F354-EFE7-2C2B2A5446B6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FB57239-3285-EBDF-8F17-1872D47D734E}"/>
              </a:ext>
            </a:extLst>
          </p:cNvPr>
          <p:cNvSpPr txBox="1">
            <a:spLocks/>
          </p:cNvSpPr>
          <p:nvPr/>
        </p:nvSpPr>
        <p:spPr>
          <a:xfrm>
            <a:off x="970654" y="3239821"/>
            <a:ext cx="4950340" cy="1013552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004620"/>
                </a:solidFill>
                <a:cs typeface="Arial"/>
              </a:rPr>
              <a:t>Business Use Case 01 · Mobile </a:t>
            </a:r>
            <a:r>
              <a:rPr lang="en-US" sz="1200" b="1" err="1">
                <a:solidFill>
                  <a:srgbClr val="004620"/>
                </a:solidFill>
                <a:cs typeface="Arial"/>
              </a:rPr>
              <a:t>Prüfung</a:t>
            </a:r>
            <a:endParaRPr lang="de-DE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de-DE" sz="1100"/>
              <a:t>Tablet-/Smartphone-Kamera - Markierung auffälliger Produkte</a:t>
            </a:r>
            <a:endParaRPr lang="de-DE" b="1">
              <a:cs typeface="Arial"/>
            </a:endParaRPr>
          </a:p>
        </p:txBody>
      </p:sp>
      <p:sp>
        <p:nvSpPr>
          <p:cNvPr id="42" name="Textplatzhalter 3">
            <a:extLst>
              <a:ext uri="{FF2B5EF4-FFF2-40B4-BE49-F238E27FC236}">
                <a16:creationId xmlns:a16="http://schemas.microsoft.com/office/drawing/2014/main" id="{607B967E-70FF-4457-C544-B72EF6F4FDD7}"/>
              </a:ext>
            </a:extLst>
          </p:cNvPr>
          <p:cNvSpPr txBox="1">
            <a:spLocks/>
          </p:cNvSpPr>
          <p:nvPr/>
        </p:nvSpPr>
        <p:spPr>
          <a:xfrm>
            <a:off x="7289287" y="3272939"/>
            <a:ext cx="4870800" cy="1093232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1200" b="1">
              <a:solidFill>
                <a:srgbClr val="004620"/>
              </a:solidFill>
              <a:cs typeface="Arial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200" b="1">
                <a:solidFill>
                  <a:srgbClr val="004620"/>
                </a:solidFill>
                <a:cs typeface="Arial"/>
              </a:rPr>
              <a:t>Business Use Case 02 · </a:t>
            </a:r>
            <a:r>
              <a:rPr lang="en-US" sz="1200" b="1" err="1">
                <a:solidFill>
                  <a:srgbClr val="004620"/>
                </a:solidFill>
                <a:cs typeface="Arial"/>
              </a:rPr>
              <a:t>Automatisierung</a:t>
            </a:r>
            <a:r>
              <a:rPr lang="de-DE" sz="1200" b="1">
                <a:solidFill>
                  <a:srgbClr val="004620"/>
                </a:solidFill>
                <a:cs typeface="Arial"/>
              </a:rPr>
              <a:t>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de-DE" sz="1100"/>
              <a:t>Kamera am Fließband - Prüfung großer Warenströme</a:t>
            </a:r>
            <a:endParaRPr lang="de-DE" b="1">
              <a:cs typeface="Arial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736B32-4E3D-E46E-F97A-062720CD4ACD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E802949C-CEDF-A8A6-54A5-53E48B06E4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2CDE40C4-41DD-0B63-BA16-6C1C0601F861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pic>
        <p:nvPicPr>
          <p:cNvPr id="8" name="20260622-0033-17.2731963">
            <a:hlinkClick r:id="" action="ppaction://media"/>
            <a:extLst>
              <a:ext uri="{FF2B5EF4-FFF2-40B4-BE49-F238E27FC236}">
                <a16:creationId xmlns:a16="http://schemas.microsoft.com/office/drawing/2014/main" id="{A4CEE972-0AA7-1266-AAF0-648DEE2D840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89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0654" y="4033625"/>
            <a:ext cx="3866172" cy="2127916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A6C8B346-8724-F14C-0F69-B9ECB20A1C23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800">
                <a:solidFill>
                  <a:schemeClr val="accent4"/>
                </a:solidFill>
              </a:rPr>
              <a:t>Video Quelle: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</a:t>
            </a:r>
            <a:r>
              <a:rPr lang="de-DE" sz="800" err="1">
                <a:solidFill>
                  <a:schemeClr val="accent4"/>
                </a:solidFill>
              </a:rPr>
              <a:t>Streamlit</a:t>
            </a:r>
            <a:r>
              <a:rPr lang="de-DE" sz="800">
                <a:solidFill>
                  <a:schemeClr val="accent4"/>
                </a:solidFill>
              </a:rPr>
              <a:t>.</a:t>
            </a:r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6103F252-6156-7BEC-A209-AC78B7F5FC82}"/>
              </a:ext>
            </a:extLst>
          </p:cNvPr>
          <p:cNvGrpSpPr/>
          <p:nvPr/>
        </p:nvGrpSpPr>
        <p:grpSpPr>
          <a:xfrm>
            <a:off x="868713" y="1932601"/>
            <a:ext cx="10613386" cy="858076"/>
            <a:chOff x="613868" y="2304988"/>
            <a:chExt cx="10613386" cy="858076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B77E3AF1-1D9D-78AF-5B58-73C48F3132B0}"/>
                </a:ext>
              </a:extLst>
            </p:cNvPr>
            <p:cNvGrpSpPr/>
            <p:nvPr/>
          </p:nvGrpSpPr>
          <p:grpSpPr>
            <a:xfrm>
              <a:off x="613868" y="2345113"/>
              <a:ext cx="2511843" cy="811798"/>
              <a:chOff x="548831" y="1951933"/>
              <a:chExt cx="2511843" cy="811798"/>
            </a:xfrm>
          </p:grpSpPr>
          <p:sp>
            <p:nvSpPr>
              <p:cNvPr id="30" name="Shape 3">
                <a:extLst>
                  <a:ext uri="{FF2B5EF4-FFF2-40B4-BE49-F238E27FC236}">
                    <a16:creationId xmlns:a16="http://schemas.microsoft.com/office/drawing/2014/main" id="{ECF4127D-C33A-D6BD-5FB0-3981ED27F933}"/>
                  </a:ext>
                </a:extLst>
              </p:cNvPr>
              <p:cNvSpPr/>
              <p:nvPr/>
            </p:nvSpPr>
            <p:spPr>
              <a:xfrm>
                <a:off x="548831" y="1952140"/>
                <a:ext cx="2209002" cy="811591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31" name="Image 0" descr="Route zwei Stecknadeln mit Weg mit einfarbiger Füllung">
                <a:extLst>
                  <a:ext uri="{FF2B5EF4-FFF2-40B4-BE49-F238E27FC236}">
                    <a16:creationId xmlns:a16="http://schemas.microsoft.com/office/drawing/2014/main" id="{7656B2BF-AFAD-5240-4EC9-D2AD41504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32" name="Text 4">
                <a:extLst>
                  <a:ext uri="{FF2B5EF4-FFF2-40B4-BE49-F238E27FC236}">
                    <a16:creationId xmlns:a16="http://schemas.microsoft.com/office/drawing/2014/main" id="{DBB5484A-9279-CCCB-5A05-77F1632AB991}"/>
                  </a:ext>
                </a:extLst>
              </p:cNvPr>
              <p:cNvSpPr/>
              <p:nvPr/>
            </p:nvSpPr>
            <p:spPr>
              <a:xfrm>
                <a:off x="1053742" y="1951933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Ziel</a:t>
                </a:r>
                <a:r>
                  <a:rPr lang="en-US" sz="1200" b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 </a:t>
                </a:r>
                <a:endParaRPr lang="en-US" sz="1200">
                  <a:solidFill>
                    <a:srgbClr val="004620"/>
                  </a:solidFill>
                </a:endParaRPr>
              </a:p>
            </p:txBody>
          </p:sp>
          <p:sp>
            <p:nvSpPr>
              <p:cNvPr id="33" name="Text 5">
                <a:extLst>
                  <a:ext uri="{FF2B5EF4-FFF2-40B4-BE49-F238E27FC236}">
                    <a16:creationId xmlns:a16="http://schemas.microsoft.com/office/drawing/2014/main" id="{F5FBD464-C7E1-BE2E-B58B-D683C4BB6E50}"/>
                  </a:ext>
                </a:extLst>
              </p:cNvPr>
              <p:cNvSpPr/>
              <p:nvPr/>
            </p:nvSpPr>
            <p:spPr>
              <a:xfrm>
                <a:off x="650772" y="2248518"/>
                <a:ext cx="2409902" cy="37974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Machbarkeit prüfen</a:t>
                </a:r>
                <a:endParaRPr lang="en-US" sz="11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306DA46E-69D5-1CAA-6CB1-31E4501BDBDE}"/>
                </a:ext>
              </a:extLst>
            </p:cNvPr>
            <p:cNvGrpSpPr/>
            <p:nvPr/>
          </p:nvGrpSpPr>
          <p:grpSpPr>
            <a:xfrm>
              <a:off x="3359059" y="2304988"/>
              <a:ext cx="2388606" cy="858076"/>
              <a:chOff x="582056" y="1868764"/>
              <a:chExt cx="2388606" cy="858076"/>
            </a:xfrm>
          </p:grpSpPr>
          <p:sp>
            <p:nvSpPr>
              <p:cNvPr id="41" name="Shape 3">
                <a:extLst>
                  <a:ext uri="{FF2B5EF4-FFF2-40B4-BE49-F238E27FC236}">
                    <a16:creationId xmlns:a16="http://schemas.microsoft.com/office/drawing/2014/main" id="{55C5D91D-DA49-4D2B-210B-2F399E1B930D}"/>
                  </a:ext>
                </a:extLst>
              </p:cNvPr>
              <p:cNvSpPr/>
              <p:nvPr/>
            </p:nvSpPr>
            <p:spPr>
              <a:xfrm>
                <a:off x="582056" y="1868764"/>
                <a:ext cx="2209002" cy="858023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44" name="Image 0" descr="Harvey Balls 50% mit einfarbiger Füllung">
                <a:extLst>
                  <a:ext uri="{FF2B5EF4-FFF2-40B4-BE49-F238E27FC236}">
                    <a16:creationId xmlns:a16="http://schemas.microsoft.com/office/drawing/2014/main" id="{282B96F2-05AC-C1A5-6E53-1FFC7BD81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>
                <a:off x="642218" y="1906366"/>
                <a:ext cx="320040" cy="320040"/>
              </a:xfrm>
              <a:prstGeom prst="rect">
                <a:avLst/>
              </a:prstGeom>
            </p:spPr>
          </p:pic>
          <p:sp>
            <p:nvSpPr>
              <p:cNvPr id="45" name="Text 4">
                <a:extLst>
                  <a:ext uri="{FF2B5EF4-FFF2-40B4-BE49-F238E27FC236}">
                    <a16:creationId xmlns:a16="http://schemas.microsoft.com/office/drawing/2014/main" id="{C9922FC7-B796-4ECD-87DA-7F5F14692D04}"/>
                  </a:ext>
                </a:extLst>
              </p:cNvPr>
              <p:cNvSpPr/>
              <p:nvPr/>
            </p:nvSpPr>
            <p:spPr>
              <a:xfrm>
                <a:off x="1062252" y="1906215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Problem</a:t>
                </a:r>
              </a:p>
            </p:txBody>
          </p:sp>
          <p:sp>
            <p:nvSpPr>
              <p:cNvPr id="46" name="Text 5">
                <a:extLst>
                  <a:ext uri="{FF2B5EF4-FFF2-40B4-BE49-F238E27FC236}">
                    <a16:creationId xmlns:a16="http://schemas.microsoft.com/office/drawing/2014/main" id="{1A056D2E-5DF3-38A6-247D-F8771763A4A4}"/>
                  </a:ext>
                </a:extLst>
              </p:cNvPr>
              <p:cNvSpPr/>
              <p:nvPr/>
            </p:nvSpPr>
            <p:spPr>
              <a:xfrm>
                <a:off x="684662" y="2262492"/>
                <a:ext cx="2286000" cy="4643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Frische → binäre Klasse </a:t>
                </a:r>
              </a:p>
              <a:p>
                <a:r>
                  <a:rPr lang="de-DE" sz="1100" b="1" err="1">
                    <a:solidFill>
                      <a:schemeClr val="bg1"/>
                    </a:solidFill>
                  </a:rPr>
                  <a:t>edible</a:t>
                </a:r>
                <a:r>
                  <a:rPr lang="de-DE" sz="1100" b="1">
                    <a:solidFill>
                      <a:schemeClr val="bg1"/>
                    </a:solidFill>
                  </a:rPr>
                  <a:t> / </a:t>
                </a:r>
                <a:r>
                  <a:rPr lang="de-DE" sz="1100" b="1" err="1">
                    <a:solidFill>
                      <a:schemeClr val="bg1"/>
                    </a:solidFill>
                  </a:rPr>
                  <a:t>non_edible</a:t>
                </a:r>
                <a:endParaRPr lang="en-US" sz="11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1851D674-7A93-5519-DF79-130A423B623B}"/>
                </a:ext>
              </a:extLst>
            </p:cNvPr>
            <p:cNvGrpSpPr/>
            <p:nvPr/>
          </p:nvGrpSpPr>
          <p:grpSpPr>
            <a:xfrm>
              <a:off x="6071845" y="2311088"/>
              <a:ext cx="2358239" cy="845824"/>
              <a:chOff x="521774" y="1917910"/>
              <a:chExt cx="2358239" cy="845824"/>
            </a:xfrm>
          </p:grpSpPr>
          <p:sp>
            <p:nvSpPr>
              <p:cNvPr id="48" name="Shape 3">
                <a:extLst>
                  <a:ext uri="{FF2B5EF4-FFF2-40B4-BE49-F238E27FC236}">
                    <a16:creationId xmlns:a16="http://schemas.microsoft.com/office/drawing/2014/main" id="{3DBA340D-E6A3-73C5-FCEE-2179D3443053}"/>
                  </a:ext>
                </a:extLst>
              </p:cNvPr>
              <p:cNvSpPr/>
              <p:nvPr/>
            </p:nvSpPr>
            <p:spPr>
              <a:xfrm>
                <a:off x="521774" y="1917910"/>
                <a:ext cx="2205386" cy="845824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49" name="Image 0" descr="Statistiken mit einfarbiger Füllung">
                <a:extLst>
                  <a:ext uri="{FF2B5EF4-FFF2-40B4-BE49-F238E27FC236}">
                    <a16:creationId xmlns:a16="http://schemas.microsoft.com/office/drawing/2014/main" id="{AAD45C35-7A40-81B3-ADC8-A20D0D10F9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50" name="Text 4">
                <a:extLst>
                  <a:ext uri="{FF2B5EF4-FFF2-40B4-BE49-F238E27FC236}">
                    <a16:creationId xmlns:a16="http://schemas.microsoft.com/office/drawing/2014/main" id="{F7A6E869-78B2-3485-80F3-84EEC7ED78B8}"/>
                  </a:ext>
                </a:extLst>
              </p:cNvPr>
              <p:cNvSpPr/>
              <p:nvPr/>
            </p:nvSpPr>
            <p:spPr>
              <a:xfrm>
                <a:off x="1051213" y="1949282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Modellausgabe</a:t>
                </a:r>
                <a:endParaRPr lang="en-US" sz="1200" b="1">
                  <a:solidFill>
                    <a:srgbClr val="004620"/>
                  </a:solidFill>
                  <a:ea typeface="Calibri" pitchFamily="34" charset="-122"/>
                  <a:cs typeface="Calibri" pitchFamily="34" charset="-120"/>
                </a:endParaRPr>
              </a:p>
            </p:txBody>
          </p:sp>
          <p:sp>
            <p:nvSpPr>
              <p:cNvPr id="51" name="Text 5">
                <a:extLst>
                  <a:ext uri="{FF2B5EF4-FFF2-40B4-BE49-F238E27FC236}">
                    <a16:creationId xmlns:a16="http://schemas.microsoft.com/office/drawing/2014/main" id="{F5C1B608-DA9D-3056-7EAB-10E7AEF875D6}"/>
                  </a:ext>
                </a:extLst>
              </p:cNvPr>
              <p:cNvSpPr/>
              <p:nvPr/>
            </p:nvSpPr>
            <p:spPr>
              <a:xfrm>
                <a:off x="650772" y="2282396"/>
                <a:ext cx="1977253" cy="43305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Score 0–1 =&gt; Threshold entscheidet</a:t>
                </a:r>
                <a:endParaRPr lang="de-DE" sz="1100">
                  <a:solidFill>
                    <a:schemeClr val="bg1"/>
                  </a:solidFill>
                  <a:cs typeface="Arial"/>
                </a:endParaRPr>
              </a:p>
            </p:txBody>
          </p:sp>
        </p:grpSp>
        <p:grpSp>
          <p:nvGrpSpPr>
            <p:cNvPr id="52" name="Gruppieren 51">
              <a:extLst>
                <a:ext uri="{FF2B5EF4-FFF2-40B4-BE49-F238E27FC236}">
                  <a16:creationId xmlns:a16="http://schemas.microsoft.com/office/drawing/2014/main" id="{08D7591F-4C02-9990-4198-1FA1787AB734}"/>
                </a:ext>
              </a:extLst>
            </p:cNvPr>
            <p:cNvGrpSpPr/>
            <p:nvPr/>
          </p:nvGrpSpPr>
          <p:grpSpPr>
            <a:xfrm>
              <a:off x="8816545" y="2311088"/>
              <a:ext cx="2410709" cy="845824"/>
              <a:chOff x="526063" y="1904459"/>
              <a:chExt cx="2410709" cy="845824"/>
            </a:xfrm>
          </p:grpSpPr>
          <p:sp>
            <p:nvSpPr>
              <p:cNvPr id="53" name="Shape 3">
                <a:extLst>
                  <a:ext uri="{FF2B5EF4-FFF2-40B4-BE49-F238E27FC236}">
                    <a16:creationId xmlns:a16="http://schemas.microsoft.com/office/drawing/2014/main" id="{4BC3650C-71CF-28EA-7634-519B217F03C7}"/>
                  </a:ext>
                </a:extLst>
              </p:cNvPr>
              <p:cNvSpPr/>
              <p:nvPr/>
            </p:nvSpPr>
            <p:spPr>
              <a:xfrm>
                <a:off x="526063" y="1904459"/>
                <a:ext cx="2205386" cy="845824"/>
              </a:xfrm>
              <a:prstGeom prst="rect">
                <a:avLst/>
              </a:prstGeom>
              <a:solidFill>
                <a:srgbClr val="F5F5F5"/>
              </a:solidFill>
              <a:ln/>
              <a:effectLst>
                <a:outerShdw blurRad="50800" dist="127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de-DE"/>
              </a:p>
            </p:txBody>
          </p:sp>
          <p:pic>
            <p:nvPicPr>
              <p:cNvPr id="54" name="Image 0" descr="Balkendiagramm mit Aufwärtstrend mit einfarbiger Füllung">
                <a:extLst>
                  <a:ext uri="{FF2B5EF4-FFF2-40B4-BE49-F238E27FC236}">
                    <a16:creationId xmlns:a16="http://schemas.microsoft.com/office/drawing/2014/main" id="{39B4A00F-EAE8-3B5D-2193-EE26563BB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650772" y="1951935"/>
                <a:ext cx="320040" cy="320040"/>
              </a:xfrm>
              <a:prstGeom prst="rect">
                <a:avLst/>
              </a:prstGeom>
            </p:spPr>
          </p:pic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E4E0BEB0-D377-83FE-C067-5738C4FDB737}"/>
                  </a:ext>
                </a:extLst>
              </p:cNvPr>
              <p:cNvSpPr/>
              <p:nvPr/>
            </p:nvSpPr>
            <p:spPr>
              <a:xfrm>
                <a:off x="1064803" y="1942231"/>
                <a:ext cx="18288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 err="1">
                    <a:solidFill>
                      <a:srgbClr val="004620"/>
                    </a:solidFill>
                    <a:ea typeface="Calibri" pitchFamily="34" charset="-122"/>
                    <a:cs typeface="Calibri" pitchFamily="34" charset="-120"/>
                  </a:rPr>
                  <a:t>Erfolgskriterium</a:t>
                </a:r>
                <a:endParaRPr lang="en-US" sz="1200" b="1">
                  <a:solidFill>
                    <a:srgbClr val="004620"/>
                  </a:solidFill>
                  <a:ea typeface="Calibri" pitchFamily="34" charset="-122"/>
                  <a:cs typeface="Calibri" pitchFamily="34" charset="-120"/>
                </a:endParaRPr>
              </a:p>
            </p:txBody>
          </p:sp>
          <p:sp>
            <p:nvSpPr>
              <p:cNvPr id="56" name="Text 5">
                <a:extLst>
                  <a:ext uri="{FF2B5EF4-FFF2-40B4-BE49-F238E27FC236}">
                    <a16:creationId xmlns:a16="http://schemas.microsoft.com/office/drawing/2014/main" id="{AB7D4AC1-6925-689B-2FD8-F39961663EE6}"/>
                  </a:ext>
                </a:extLst>
              </p:cNvPr>
              <p:cNvSpPr/>
              <p:nvPr/>
            </p:nvSpPr>
            <p:spPr>
              <a:xfrm>
                <a:off x="650772" y="2282396"/>
                <a:ext cx="2286000" cy="35799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de-DE" sz="1100">
                    <a:solidFill>
                      <a:schemeClr val="bg1"/>
                    </a:solidFill>
                  </a:rPr>
                  <a:t>Precision &amp; Recall</a:t>
                </a:r>
              </a:p>
            </p:txBody>
          </p:sp>
        </p:grpSp>
      </p:grpSp>
      <p:pic>
        <p:nvPicPr>
          <p:cNvPr id="11" name="20260622-0036-20.5939937">
            <a:hlinkClick r:id="" action="ppaction://media"/>
            <a:extLst>
              <a:ext uri="{FF2B5EF4-FFF2-40B4-BE49-F238E27FC236}">
                <a16:creationId xmlns:a16="http://schemas.microsoft.com/office/drawing/2014/main" id="{CBDB1239-1C3F-B8DA-FACF-37CEEA56458C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3">
                  <p14:trim st="2841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7289287" y="4053549"/>
            <a:ext cx="3866172" cy="212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7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857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9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 mute="1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C9B1-752B-D16D-5D74-146CF721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4074B0B-A12A-4939-CC17-F9FE47126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AD233A-8D4F-4A10-8271-08640ACD726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, </a:t>
            </a:r>
            <a:r>
              <a:rPr lang="en-US" err="1">
                <a:cs typeface="Arial"/>
              </a:rPr>
              <a:t>Daten</a:t>
            </a:r>
            <a:r>
              <a:rPr lang="en-US">
                <a:cs typeface="Arial"/>
              </a:rPr>
              <a:t> ...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735362B-2B72-72EA-4461-946BFE7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Sammeln und Verarbeiten der Daten</a:t>
            </a:r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3062BFD-DB50-D721-5846-F054F1C30361}"/>
              </a:ext>
            </a:extLst>
          </p:cNvPr>
          <p:cNvSpPr txBox="1"/>
          <p:nvPr/>
        </p:nvSpPr>
        <p:spPr>
          <a:xfrm>
            <a:off x="7579245" y="1762426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03 Data </a:t>
            </a:r>
            <a:r>
              <a:rPr lang="de-DE" sz="1400" b="1" err="1">
                <a:solidFill>
                  <a:schemeClr val="bg1"/>
                </a:solidFill>
              </a:rPr>
              <a:t>Preparation</a:t>
            </a:r>
            <a:endParaRPr lang="de-DE" sz="1400" b="1">
              <a:solidFill>
                <a:schemeClr val="bg1"/>
              </a:solidFill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DF36381D-1038-89C1-139B-3E5269966D0A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24C492-966B-29DC-B257-F553D795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68" y="4419893"/>
            <a:ext cx="4580134" cy="2016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1F9BC1-40B7-C78E-5AC1-34E8F7357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968" y="4412116"/>
            <a:ext cx="4590540" cy="2016017"/>
          </a:xfrm>
          <a:prstGeom prst="rect">
            <a:avLst/>
          </a:prstGeom>
        </p:spPr>
      </p:pic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E24B54E2-6A20-E158-891F-72BD428FEA4F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138ECA89-F559-56CD-265C-AFCFE81895ED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5A553C9-751B-393A-24B4-E20C71C4F3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464D1F6B-5642-D61C-703C-7382BE287A89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22" name="Datumsplatzhalter 1">
            <a:extLst>
              <a:ext uri="{FF2B5EF4-FFF2-40B4-BE49-F238E27FC236}">
                <a16:creationId xmlns:a16="http://schemas.microsoft.com/office/drawing/2014/main" id="{CF0C80CD-F670-289A-781B-D1A7D7B13B12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64DDEBC5-D0A4-7994-0F5C-48F4F0F1FB17}"/>
              </a:ext>
            </a:extLst>
          </p:cNvPr>
          <p:cNvSpPr txBox="1">
            <a:spLocks/>
          </p:cNvSpPr>
          <p:nvPr/>
        </p:nvSpPr>
        <p:spPr>
          <a:xfrm>
            <a:off x="518319" y="6634667"/>
            <a:ext cx="330861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oliennummernplatzhalter 3">
            <a:extLst>
              <a:ext uri="{FF2B5EF4-FFF2-40B4-BE49-F238E27FC236}">
                <a16:creationId xmlns:a16="http://schemas.microsoft.com/office/drawing/2014/main" id="{DCA570B5-92D4-F48A-7651-E7DA412A16B7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2D0729C-A30A-7843-7F97-D3012057D037}"/>
              </a:ext>
            </a:extLst>
          </p:cNvPr>
          <p:cNvSpPr txBox="1"/>
          <p:nvPr/>
        </p:nvSpPr>
        <p:spPr>
          <a:xfrm>
            <a:off x="3875313" y="6384697"/>
            <a:ext cx="8011205" cy="2154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de-DE" sz="800">
                <a:solidFill>
                  <a:schemeClr val="accent4"/>
                </a:solidFill>
              </a:rPr>
              <a:t>Bilder aus dem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Datensatz; Screenshot Quelle:  </a:t>
            </a:r>
            <a:r>
              <a:rPr lang="de-DE" sz="800" err="1">
                <a:solidFill>
                  <a:schemeClr val="accent4"/>
                </a:solidFill>
              </a:rPr>
              <a:t>Freshify</a:t>
            </a:r>
            <a:r>
              <a:rPr lang="de-DE" sz="800">
                <a:solidFill>
                  <a:schemeClr val="accent4"/>
                </a:solidFill>
              </a:rPr>
              <a:t> Notebooks.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FBF821F-ACA2-BA77-163F-9F6C81CD166E}"/>
              </a:ext>
            </a:extLst>
          </p:cNvPr>
          <p:cNvGrpSpPr/>
          <p:nvPr/>
        </p:nvGrpSpPr>
        <p:grpSpPr>
          <a:xfrm>
            <a:off x="637711" y="2107150"/>
            <a:ext cx="5072400" cy="2248695"/>
            <a:chOff x="4846320" y="1387836"/>
            <a:chExt cx="3950828" cy="2946738"/>
          </a:xfrm>
        </p:grpSpPr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2AE45F5B-F0D6-43FA-0A92-FCA308CB116C}"/>
                </a:ext>
              </a:extLst>
            </p:cNvPr>
            <p:cNvSpPr/>
            <p:nvPr/>
          </p:nvSpPr>
          <p:spPr>
            <a:xfrm>
              <a:off x="4846320" y="1408495"/>
              <a:ext cx="3950828" cy="2926079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B543A0FF-7793-0A2C-17BA-747D2103936D}"/>
                </a:ext>
              </a:extLst>
            </p:cNvPr>
            <p:cNvSpPr/>
            <p:nvPr/>
          </p:nvSpPr>
          <p:spPr>
            <a:xfrm>
              <a:off x="4860796" y="1387836"/>
              <a:ext cx="69340" cy="2917962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A781C6EC-E81A-D7CC-A4C8-93F2E5E6B987}"/>
                </a:ext>
              </a:extLst>
            </p:cNvPr>
            <p:cNvSpPr/>
            <p:nvPr/>
          </p:nvSpPr>
          <p:spPr>
            <a:xfrm>
              <a:off x="4955348" y="1985319"/>
              <a:ext cx="3765229" cy="4789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spcAft>
                  <a:spcPts val="12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Analyse der Bilddaten hinsichtlich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Umfang</a:t>
              </a: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, </a:t>
              </a:r>
              <a:r>
                <a:rPr kumimoji="0" lang="de-DE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Herkunft</a:t>
              </a:r>
              <a:r>
                <a:rPr kumimoji="0" lang="de-DE" sz="140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  <a:r>
                <a:rPr lang="de-DE" sz="1400">
                  <a:solidFill>
                    <a:prstClr val="black"/>
                  </a:solidFill>
                </a:rPr>
                <a:t>und </a:t>
              </a:r>
              <a:r>
                <a:rPr lang="de-DE" sz="1400" b="1">
                  <a:solidFill>
                    <a:prstClr val="black"/>
                  </a:solidFill>
                </a:rPr>
                <a:t> Klassenverteilung</a:t>
              </a:r>
              <a:endParaRPr lang="de-DE">
                <a:solidFill>
                  <a:prstClr val="black"/>
                </a:solidFill>
                <a:cs typeface="Arial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3F1D86A-7C81-6922-974C-CCB42174A92E}"/>
              </a:ext>
            </a:extLst>
          </p:cNvPr>
          <p:cNvGrpSpPr/>
          <p:nvPr/>
        </p:nvGrpSpPr>
        <p:grpSpPr>
          <a:xfrm>
            <a:off x="6586394" y="2100956"/>
            <a:ext cx="5407750" cy="2226448"/>
            <a:chOff x="4846320" y="1355054"/>
            <a:chExt cx="4212028" cy="2973294"/>
          </a:xfrm>
        </p:grpSpPr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492E7BE7-8C82-283F-73F5-CBCD842CF09B}"/>
                </a:ext>
              </a:extLst>
            </p:cNvPr>
            <p:cNvSpPr/>
            <p:nvPr/>
          </p:nvSpPr>
          <p:spPr>
            <a:xfrm>
              <a:off x="4875271" y="1355054"/>
              <a:ext cx="3951462" cy="2959172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58B9A52E-312C-C495-65E8-19C4EA71BCC0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C026E5D4-C577-669C-3F09-DC38EF2C33EC}"/>
                </a:ext>
              </a:extLst>
            </p:cNvPr>
            <p:cNvSpPr/>
            <p:nvPr/>
          </p:nvSpPr>
          <p:spPr>
            <a:xfrm>
              <a:off x="4931221" y="1991863"/>
              <a:ext cx="4127127" cy="233648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 b="1">
                  <a:solidFill>
                    <a:schemeClr val="bg1"/>
                  </a:solidFill>
                </a:rPr>
                <a:t>Normalisierung</a:t>
              </a:r>
              <a:r>
                <a:rPr lang="de-DE" sz="1400">
                  <a:solidFill>
                    <a:schemeClr val="bg1"/>
                  </a:solidFill>
                </a:rPr>
                <a:t> aller Bilddateien &amp; </a:t>
              </a:r>
              <a:r>
                <a:rPr lang="de-DE" sz="1400" b="1">
                  <a:solidFill>
                    <a:schemeClr val="bg1"/>
                  </a:solidFill>
                </a:rPr>
                <a:t>Aufteilung </a:t>
              </a:r>
              <a:r>
                <a:rPr lang="de-DE" sz="1400">
                  <a:solidFill>
                    <a:schemeClr val="bg1"/>
                  </a:solidFill>
                </a:rPr>
                <a:t>in</a:t>
              </a:r>
              <a:r>
                <a:rPr lang="de-DE" sz="1400" b="1">
                  <a:solidFill>
                    <a:schemeClr val="bg1"/>
                  </a:solidFill>
                </a:rPr>
                <a:t> Train/Val</a:t>
              </a:r>
              <a:endParaRPr lang="de-DE" sz="1400" b="1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chemeClr val="bg1"/>
                  </a:solidFill>
                </a:rPr>
                <a:t>verschiedene </a:t>
              </a:r>
              <a:r>
                <a:rPr lang="de-DE" sz="1400" b="1">
                  <a:solidFill>
                    <a:schemeClr val="bg1"/>
                  </a:solidFill>
                </a:rPr>
                <a:t>Augmentationsanteile</a:t>
              </a:r>
              <a:endParaRPr lang="de-DE" sz="1400" b="1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>
                  <a:solidFill>
                    <a:schemeClr val="bg1"/>
                  </a:solidFill>
                </a:rPr>
                <a:t>Ziel ist der </a:t>
              </a:r>
              <a:r>
                <a:rPr lang="de-DE" sz="1400" b="1">
                  <a:solidFill>
                    <a:schemeClr val="bg1"/>
                  </a:solidFill>
                </a:rPr>
                <a:t>Erhalt feiner Farb- und Texturmerkmale </a:t>
              </a:r>
              <a:r>
                <a:rPr lang="de-DE" sz="1400">
                  <a:solidFill>
                    <a:schemeClr val="bg1"/>
                  </a:solidFill>
                </a:rPr>
                <a:t>als Frischeindikatoren</a:t>
              </a:r>
              <a:endParaRPr lang="de-DE" sz="1400">
                <a:solidFill>
                  <a:schemeClr val="bg1"/>
                </a:solidFill>
                <a:cs typeface="Arial"/>
              </a:endParaRP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de-DE" sz="1400" b="1">
                  <a:solidFill>
                    <a:schemeClr val="bg1"/>
                  </a:solidFill>
                </a:rPr>
                <a:t>Reproduzierbare </a:t>
              </a:r>
              <a:r>
                <a:rPr lang="de-DE" sz="1400">
                  <a:solidFill>
                    <a:schemeClr val="bg1"/>
                  </a:solidFill>
                </a:rPr>
                <a:t>Datenpipeline</a:t>
              </a:r>
              <a:r>
                <a:rPr lang="de-DE" sz="1400" b="1">
                  <a:solidFill>
                    <a:schemeClr val="bg1"/>
                  </a:solidFill>
                </a:rPr>
                <a:t> </a:t>
              </a:r>
              <a:r>
                <a:rPr lang="de-DE" sz="1400">
                  <a:solidFill>
                    <a:schemeClr val="bg1"/>
                  </a:solidFill>
                </a:rPr>
                <a:t>für Training und Evaluation</a:t>
              </a:r>
              <a:endParaRPr lang="de-DE" sz="1400">
                <a:solidFill>
                  <a:schemeClr val="bg1"/>
                </a:solidFill>
                <a:cs typeface="Arial"/>
              </a:endParaRPr>
            </a:p>
          </p:txBody>
        </p:sp>
      </p:grp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31D7ECF5-C8DE-C217-2F40-815FB2F23EAB}"/>
              </a:ext>
            </a:extLst>
          </p:cNvPr>
          <p:cNvSpPr txBox="1">
            <a:spLocks/>
          </p:cNvSpPr>
          <p:nvPr/>
        </p:nvSpPr>
        <p:spPr>
          <a:xfrm>
            <a:off x="757710" y="2142268"/>
            <a:ext cx="5237561" cy="297037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de-DE" b="1">
                <a:solidFill>
                  <a:srgbClr val="004620"/>
                </a:solidFill>
              </a:rPr>
              <a:t>   Datensatzaufbau &amp; statistische Eigenschaften</a:t>
            </a:r>
            <a:endParaRPr lang="de-DE">
              <a:solidFill>
                <a:schemeClr val="bg1"/>
              </a:solidFill>
              <a:cs typeface="Arial"/>
            </a:endParaRPr>
          </a:p>
        </p:txBody>
      </p:sp>
      <p:sp>
        <p:nvSpPr>
          <p:cNvPr id="34" name="Textplatzhalter 1">
            <a:extLst>
              <a:ext uri="{FF2B5EF4-FFF2-40B4-BE49-F238E27FC236}">
                <a16:creationId xmlns:a16="http://schemas.microsoft.com/office/drawing/2014/main" id="{DC5700F1-81D3-2C1A-1CF8-F41747CBF520}"/>
              </a:ext>
            </a:extLst>
          </p:cNvPr>
          <p:cNvSpPr txBox="1">
            <a:spLocks/>
          </p:cNvSpPr>
          <p:nvPr/>
        </p:nvSpPr>
        <p:spPr>
          <a:xfrm>
            <a:off x="6656834" y="2167048"/>
            <a:ext cx="4680000" cy="259254"/>
          </a:xfrm>
          <a:prstGeom prst="rect">
            <a:avLst/>
          </a:prstGeom>
        </p:spPr>
        <p:txBody>
          <a:bodyPr vert="horz" lIns="0" tIns="0" rIns="36000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de-DE" b="1">
                <a:solidFill>
                  <a:srgbClr val="004620"/>
                </a:solidFill>
              </a:rPr>
              <a:t>   </a:t>
            </a:r>
            <a:r>
              <a:rPr lang="de-DE" b="1" err="1">
                <a:solidFill>
                  <a:srgbClr val="004620"/>
                </a:solidFill>
              </a:rPr>
              <a:t>Preprocessing</a:t>
            </a:r>
            <a:r>
              <a:rPr lang="de-DE" b="1">
                <a:solidFill>
                  <a:srgbClr val="004620"/>
                </a:solidFill>
              </a:rPr>
              <a:t> &amp; Eingaberepräsentation</a:t>
            </a:r>
            <a:endParaRPr lang="de-DE">
              <a:solidFill>
                <a:schemeClr val="bg1"/>
              </a:solidFill>
              <a:cs typeface="Arial"/>
            </a:endParaRPr>
          </a:p>
        </p:txBody>
      </p:sp>
      <p:pic>
        <p:nvPicPr>
          <p:cNvPr id="43" name="Grafik 42" descr="erdbeere_edible_d9d2829f85d9.jpeg">
            <a:extLst>
              <a:ext uri="{FF2B5EF4-FFF2-40B4-BE49-F238E27FC236}">
                <a16:creationId xmlns:a16="http://schemas.microsoft.com/office/drawing/2014/main" id="{3C35A2D3-EDD2-4122-1C41-0F89392857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102" t="8320" r="1486" b="9268"/>
          <a:stretch>
            <a:fillRect/>
          </a:stretch>
        </p:blipFill>
        <p:spPr>
          <a:xfrm rot="5400000">
            <a:off x="94634" y="4687316"/>
            <a:ext cx="1661434" cy="1246076"/>
          </a:xfrm>
          <a:prstGeom prst="rect">
            <a:avLst/>
          </a:prstGeom>
        </p:spPr>
      </p:pic>
      <p:pic>
        <p:nvPicPr>
          <p:cNvPr id="44" name="Grafik 43" descr="banana-ne-o (3).jpeg">
            <a:extLst>
              <a:ext uri="{FF2B5EF4-FFF2-40B4-BE49-F238E27FC236}">
                <a16:creationId xmlns:a16="http://schemas.microsoft.com/office/drawing/2014/main" id="{6C663ACB-D746-CF31-249F-F85AE243D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380" y="4479637"/>
            <a:ext cx="1246075" cy="1661434"/>
          </a:xfrm>
          <a:prstGeom prst="rect">
            <a:avLst/>
          </a:prstGeom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3B5719F3-BE35-8652-CF88-04E441E01E72}"/>
              </a:ext>
            </a:extLst>
          </p:cNvPr>
          <p:cNvSpPr txBox="1"/>
          <p:nvPr/>
        </p:nvSpPr>
        <p:spPr>
          <a:xfrm>
            <a:off x="776271" y="6156039"/>
            <a:ext cx="298159" cy="1249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de-DE" sz="800" b="1" i="0" u="none" strike="noStrike" kern="1200" cap="none" spc="0" normalizeH="0" baseline="0" noProof="0" err="1">
                <a:ln>
                  <a:noFill/>
                </a:ln>
                <a:solidFill>
                  <a:srgbClr val="36DC8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edible</a:t>
            </a:r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36DC8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D8DDCAEC-EFEA-DE03-3B1A-21A708C5F5A0}"/>
              </a:ext>
            </a:extLst>
          </p:cNvPr>
          <p:cNvSpPr txBox="1"/>
          <p:nvPr/>
        </p:nvSpPr>
        <p:spPr>
          <a:xfrm>
            <a:off x="1993710" y="6156039"/>
            <a:ext cx="543418" cy="1249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de-DE" sz="800" b="1">
                <a:solidFill>
                  <a:srgbClr val="36DC8A"/>
                </a:solidFill>
                <a:latin typeface="Arial"/>
              </a:rPr>
              <a:t>n</a:t>
            </a:r>
            <a:r>
              <a:rPr kumimoji="0" lang="de-DE" sz="800" b="1" i="0" u="none" strike="noStrike" kern="1200" cap="none" spc="0" normalizeH="0" baseline="0" noProof="0" err="1">
                <a:ln>
                  <a:noFill/>
                </a:ln>
                <a:solidFill>
                  <a:srgbClr val="36DC8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on_edible</a:t>
            </a:r>
            <a:endParaRPr kumimoji="0" lang="de-DE" sz="800" b="1" i="0" u="none" strike="noStrike" kern="1200" cap="none" spc="0" normalizeH="0" baseline="0" noProof="0">
              <a:ln>
                <a:noFill/>
              </a:ln>
              <a:solidFill>
                <a:srgbClr val="36DC8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5BAD85F-D84C-5314-3ACF-6D6A51BF3029}"/>
              </a:ext>
            </a:extLst>
          </p:cNvPr>
          <p:cNvSpPr txBox="1"/>
          <p:nvPr/>
        </p:nvSpPr>
        <p:spPr>
          <a:xfrm>
            <a:off x="1263766" y="1706671"/>
            <a:ext cx="3250536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02 Data Understanding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98BF608-742C-D631-9E68-560F9C485DBF}"/>
              </a:ext>
            </a:extLst>
          </p:cNvPr>
          <p:cNvSpPr txBox="1"/>
          <p:nvPr/>
        </p:nvSpPr>
        <p:spPr>
          <a:xfrm>
            <a:off x="774390" y="3060389"/>
            <a:ext cx="4795024" cy="2185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1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 b="1">
                <a:solidFill>
                  <a:prstClr val="black"/>
                </a:solidFill>
                <a:latin typeface="Arial"/>
                <a:cs typeface="Arial"/>
              </a:rPr>
              <a:t>Heterogenität</a:t>
            </a:r>
            <a:r>
              <a:rPr lang="de-DE" sz="1400">
                <a:solidFill>
                  <a:prstClr val="black"/>
                </a:solidFill>
                <a:latin typeface="Arial"/>
                <a:cs typeface="Arial"/>
              </a:rPr>
              <a:t> auf verschiedenen Ebenen:                                                 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AAF9E7A-69B4-845E-3608-039770E188A5}"/>
              </a:ext>
            </a:extLst>
          </p:cNvPr>
          <p:cNvSpPr txBox="1"/>
          <p:nvPr/>
        </p:nvSpPr>
        <p:spPr>
          <a:xfrm>
            <a:off x="757710" y="3324310"/>
            <a:ext cx="479502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Datenherkunft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Augmentation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400">
                <a:solidFill>
                  <a:prstClr val="black"/>
                </a:solidFill>
                <a:cs typeface="Arial"/>
              </a:rPr>
              <a:t>Aufnahmebedingungen</a:t>
            </a:r>
            <a:endParaRPr lang="de-DE" sz="1400">
              <a:solidFill>
                <a:prstClr val="black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141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438F-A51C-5F11-1071-6CBC01E13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3019AD3-5A65-0342-41EB-6B148CE0AB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  <a:p>
            <a:pPr lvl="0"/>
            <a:endParaRPr lang="de-DE" sz="1400">
              <a:solidFill>
                <a:schemeClr val="bg1"/>
              </a:solidFill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DCADA0-1250-59BE-C8EB-D0B17C0525B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>
                <a:cs typeface="Arial"/>
              </a:rPr>
              <a:t>Die </a:t>
            </a:r>
            <a:r>
              <a:rPr lang="en-US" err="1">
                <a:cs typeface="Arial"/>
              </a:rPr>
              <a:t>optimalen</a:t>
            </a:r>
            <a:r>
              <a:rPr lang="en-US">
                <a:cs typeface="Arial"/>
              </a:rPr>
              <a:t> </a:t>
            </a:r>
            <a:r>
              <a:rPr lang="en-US" err="1">
                <a:cs typeface="Arial"/>
              </a:rPr>
              <a:t>Werte</a:t>
            </a:r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1E50FF1-E1FD-561B-9C2D-948FB7D3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7" y="301185"/>
            <a:ext cx="7918111" cy="332399"/>
          </a:xfrm>
        </p:spPr>
        <p:txBody>
          <a:bodyPr/>
          <a:lstStyle/>
          <a:p>
            <a:r>
              <a:rPr lang="de-DE"/>
              <a:t>Modellieren, Fine-tunen &amp; Selektieren​</a:t>
            </a:r>
            <a:endParaRPr lang="de-DE">
              <a:cs typeface="Arial"/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B3EDD873-477E-4079-30CA-0F4C3EF6DCF6}"/>
              </a:ext>
            </a:extLst>
          </p:cNvPr>
          <p:cNvSpPr txBox="1">
            <a:spLocks/>
          </p:cNvSpPr>
          <p:nvPr/>
        </p:nvSpPr>
        <p:spPr>
          <a:xfrm>
            <a:off x="518316" y="1319619"/>
            <a:ext cx="6264728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Präsentiert vom C-Team</a:t>
            </a:r>
            <a:r>
              <a:rPr lang="en-US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kumimoji="0" lang="de-DE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Leopold Eberlein · Felix Geier · Lea Herrmann</a:t>
            </a:r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58D2C3A3-E70A-3FBA-A505-1646CBE5C99A}"/>
              </a:ext>
            </a:extLst>
          </p:cNvPr>
          <p:cNvSpPr txBox="1">
            <a:spLocks/>
          </p:cNvSpPr>
          <p:nvPr/>
        </p:nvSpPr>
        <p:spPr>
          <a:xfrm>
            <a:off x="6679563" y="1319619"/>
            <a:ext cx="5464297" cy="127856"/>
          </a:xfrm>
          <a:prstGeom prst="rect">
            <a:avLst/>
          </a:prstGeom>
        </p:spPr>
        <p:txBody>
          <a:bodyPr vert="horz" wrap="square" lIns="0" tIns="0" rIns="36000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rgbClr val="36DC8A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800" b="1"/>
              <a:t>Projekt des P-Teams</a:t>
            </a:r>
            <a:r>
              <a:rPr lang="en-US" sz="800"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de-DE" sz="800"/>
              <a:t>Tobias Franz · Vincent Schreyer · Tim Walther</a:t>
            </a:r>
            <a:endParaRPr lang="de-DE" sz="800">
              <a:cs typeface="Arial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E5117CF-7539-A052-0DBC-917637D9B965}"/>
              </a:ext>
            </a:extLst>
          </p:cNvPr>
          <p:cNvGrpSpPr/>
          <p:nvPr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61542E07-C69C-847A-981C-323CA924CA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118ABC96-54CF-C45C-2612-27FA055C88D9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sp>
        <p:nvSpPr>
          <p:cNvPr id="22" name="Datumsplatzhalter 1">
            <a:extLst>
              <a:ext uri="{FF2B5EF4-FFF2-40B4-BE49-F238E27FC236}">
                <a16:creationId xmlns:a16="http://schemas.microsoft.com/office/drawing/2014/main" id="{39F98CFC-B3B4-04A1-FFCE-9587CBA4FC32}"/>
              </a:ext>
            </a:extLst>
          </p:cNvPr>
          <p:cNvSpPr txBox="1">
            <a:spLocks/>
          </p:cNvSpPr>
          <p:nvPr/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63C1E1-AC59-4719-B48A-47AE7D11D1F4}" type="datetime4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26. Juni 2026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EA198C72-8439-7B56-B6BE-E97E2A65E6A2}"/>
              </a:ext>
            </a:extLst>
          </p:cNvPr>
          <p:cNvSpPr txBox="1">
            <a:spLocks/>
          </p:cNvSpPr>
          <p:nvPr/>
        </p:nvSpPr>
        <p:spPr>
          <a:xfrm>
            <a:off x="518319" y="6634667"/>
            <a:ext cx="330861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kumimoji="0" lang="de-DE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Friedrich-Alexander-Universität Erlangen-Nürnberg 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ML4B </a:t>
            </a:r>
            <a:r>
              <a:rPr lang="en-US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SoSe</a:t>
            </a:r>
            <a:r>
              <a:rPr lang="en-US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Foliennummernplatzhalter 3">
            <a:extLst>
              <a:ext uri="{FF2B5EF4-FFF2-40B4-BE49-F238E27FC236}">
                <a16:creationId xmlns:a16="http://schemas.microsoft.com/office/drawing/2014/main" id="{66364FB5-1EB3-CB38-8398-9BA1246E9D0A}"/>
              </a:ext>
            </a:extLst>
          </p:cNvPr>
          <p:cNvSpPr txBox="1">
            <a:spLocks/>
          </p:cNvSpPr>
          <p:nvPr/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49F9DF-37BD-4CD6-BF49-65BA579E1D7A}" type="slidenum">
              <a:rPr kumimoji="0" lang="de-DE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8B37E7A-3CC2-6391-D5D9-E62A0D15C90C}"/>
              </a:ext>
            </a:extLst>
          </p:cNvPr>
          <p:cNvSpPr txBox="1"/>
          <p:nvPr/>
        </p:nvSpPr>
        <p:spPr>
          <a:xfrm>
            <a:off x="1814400" y="1762426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04 Modeling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001F116-B9FB-72B0-EB4A-429E70A15AEA}"/>
              </a:ext>
            </a:extLst>
          </p:cNvPr>
          <p:cNvSpPr txBox="1"/>
          <p:nvPr/>
        </p:nvSpPr>
        <p:spPr>
          <a:xfrm>
            <a:off x="7578000" y="1764000"/>
            <a:ext cx="3816000" cy="309600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05 Evaluation </a:t>
            </a:r>
            <a:r>
              <a:rPr lang="de-DE" sz="1400">
                <a:solidFill>
                  <a:schemeClr val="bg1"/>
                </a:solidFill>
              </a:rPr>
              <a:t>&amp; </a:t>
            </a:r>
            <a:r>
              <a:rPr lang="de-DE" sz="1400" b="1">
                <a:solidFill>
                  <a:schemeClr val="bg1"/>
                </a:solidFill>
              </a:rPr>
              <a:t>06 </a:t>
            </a:r>
            <a:r>
              <a:rPr lang="de-DE" sz="1400" b="1" err="1">
                <a:solidFill>
                  <a:schemeClr val="bg1"/>
                </a:solidFill>
              </a:rPr>
              <a:t>Deployment</a:t>
            </a:r>
            <a:endParaRPr lang="de-DE" sz="1400" b="1">
              <a:solidFill>
                <a:schemeClr val="bg1"/>
              </a:solidFill>
              <a:cs typeface="Arial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26CAC88-B53E-5DA0-5FCE-A4DD7BEAFC87}"/>
              </a:ext>
            </a:extLst>
          </p:cNvPr>
          <p:cNvGrpSpPr/>
          <p:nvPr/>
        </p:nvGrpSpPr>
        <p:grpSpPr>
          <a:xfrm>
            <a:off x="542681" y="2568639"/>
            <a:ext cx="5261831" cy="737715"/>
            <a:chOff x="542681" y="2568639"/>
            <a:chExt cx="5261831" cy="737715"/>
          </a:xfrm>
        </p:grpSpPr>
        <p:sp>
          <p:nvSpPr>
            <p:cNvPr id="15" name="Shape 3">
              <a:extLst>
                <a:ext uri="{FF2B5EF4-FFF2-40B4-BE49-F238E27FC236}">
                  <a16:creationId xmlns:a16="http://schemas.microsoft.com/office/drawing/2014/main" id="{D2A3ECD2-E7F3-F468-D774-980B2E488A62}"/>
                </a:ext>
              </a:extLst>
            </p:cNvPr>
            <p:cNvSpPr/>
            <p:nvPr/>
          </p:nvSpPr>
          <p:spPr>
            <a:xfrm>
              <a:off x="548875" y="2574834"/>
              <a:ext cx="5255637" cy="7315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Shape 4">
              <a:extLst>
                <a:ext uri="{FF2B5EF4-FFF2-40B4-BE49-F238E27FC236}">
                  <a16:creationId xmlns:a16="http://schemas.microsoft.com/office/drawing/2014/main" id="{A03ACAB4-7D5F-703B-E0F2-6C2168A885F6}"/>
                </a:ext>
              </a:extLst>
            </p:cNvPr>
            <p:cNvSpPr/>
            <p:nvPr/>
          </p:nvSpPr>
          <p:spPr>
            <a:xfrm>
              <a:off x="542681" y="2568639"/>
              <a:ext cx="98229" cy="737715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1" name="Image 0" descr="Illustrator mit einfarbiger Füllung">
              <a:extLst>
                <a:ext uri="{FF2B5EF4-FFF2-40B4-BE49-F238E27FC236}">
                  <a16:creationId xmlns:a16="http://schemas.microsoft.com/office/drawing/2014/main" id="{94B72040-913B-6EDC-9CE5-F442D34B32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777476" y="2711994"/>
              <a:ext cx="365760" cy="365760"/>
            </a:xfrm>
            <a:prstGeom prst="rect">
              <a:avLst/>
            </a:prstGeom>
          </p:spPr>
        </p:pic>
        <p:sp>
          <p:nvSpPr>
            <p:cNvPr id="32" name="Text 5">
              <a:extLst>
                <a:ext uri="{FF2B5EF4-FFF2-40B4-BE49-F238E27FC236}">
                  <a16:creationId xmlns:a16="http://schemas.microsoft.com/office/drawing/2014/main" id="{72AC01A9-6FB6-E787-1D83-7AC74D2AA113}"/>
                </a:ext>
              </a:extLst>
            </p:cNvPr>
            <p:cNvSpPr/>
            <p:nvPr/>
          </p:nvSpPr>
          <p:spPr>
            <a:xfrm>
              <a:off x="1280396" y="2583384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004620"/>
                  </a:solidFill>
                  <a:ea typeface="Calibri"/>
                  <a:cs typeface="Calibri"/>
                </a:rPr>
                <a:t>Modelle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33" name="Text 6">
              <a:extLst>
                <a:ext uri="{FF2B5EF4-FFF2-40B4-BE49-F238E27FC236}">
                  <a16:creationId xmlns:a16="http://schemas.microsoft.com/office/drawing/2014/main" id="{F3BB7A0F-0292-0220-56BA-41D8A3BC106A}"/>
                </a:ext>
              </a:extLst>
            </p:cNvPr>
            <p:cNvSpPr/>
            <p:nvPr/>
          </p:nvSpPr>
          <p:spPr>
            <a:xfrm>
              <a:off x="1280396" y="2894874"/>
              <a:ext cx="447468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Auswahl eines vortrainierten CNNs (MobileNetV2) als Feature-Extractor und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MobileSAM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zur Objekterkennung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8598B43-FDCA-BB92-12E1-05BDFD94492D}"/>
              </a:ext>
            </a:extLst>
          </p:cNvPr>
          <p:cNvGrpSpPr/>
          <p:nvPr/>
        </p:nvGrpSpPr>
        <p:grpSpPr>
          <a:xfrm>
            <a:off x="542680" y="3429619"/>
            <a:ext cx="5261832" cy="920615"/>
            <a:chOff x="542680" y="3429619"/>
            <a:chExt cx="5261832" cy="920615"/>
          </a:xfrm>
        </p:grpSpPr>
        <p:sp>
          <p:nvSpPr>
            <p:cNvPr id="34" name="Shape 3">
              <a:extLst>
                <a:ext uri="{FF2B5EF4-FFF2-40B4-BE49-F238E27FC236}">
                  <a16:creationId xmlns:a16="http://schemas.microsoft.com/office/drawing/2014/main" id="{4CCE1C43-3EF2-051B-AF17-A97904741CC0}"/>
                </a:ext>
              </a:extLst>
            </p:cNvPr>
            <p:cNvSpPr/>
            <p:nvPr/>
          </p:nvSpPr>
          <p:spPr>
            <a:xfrm>
              <a:off x="542680" y="3451446"/>
              <a:ext cx="5261832" cy="898788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Shape 4">
              <a:extLst>
                <a:ext uri="{FF2B5EF4-FFF2-40B4-BE49-F238E27FC236}">
                  <a16:creationId xmlns:a16="http://schemas.microsoft.com/office/drawing/2014/main" id="{632ABC16-BE1D-86FF-D2BF-6D69978C9B33}"/>
                </a:ext>
              </a:extLst>
            </p:cNvPr>
            <p:cNvSpPr/>
            <p:nvPr/>
          </p:nvSpPr>
          <p:spPr>
            <a:xfrm>
              <a:off x="542681" y="3445251"/>
              <a:ext cx="98229" cy="898787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36" name="Image 0" descr="Venn-Diagramm mit einfarbiger Füllung">
              <a:extLst>
                <a:ext uri="{FF2B5EF4-FFF2-40B4-BE49-F238E27FC236}">
                  <a16:creationId xmlns:a16="http://schemas.microsoft.com/office/drawing/2014/main" id="{0104ABC7-C193-6189-FF0A-ECBC6AA44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7476" y="3594801"/>
              <a:ext cx="365760" cy="365760"/>
            </a:xfrm>
            <a:prstGeom prst="rect">
              <a:avLst/>
            </a:prstGeom>
          </p:spPr>
        </p:pic>
        <p:sp>
          <p:nvSpPr>
            <p:cNvPr id="37" name="Text 5">
              <a:extLst>
                <a:ext uri="{FF2B5EF4-FFF2-40B4-BE49-F238E27FC236}">
                  <a16:creationId xmlns:a16="http://schemas.microsoft.com/office/drawing/2014/main" id="{18E57AB3-8947-A794-1DAB-DFA9DCC13A95}"/>
                </a:ext>
              </a:extLst>
            </p:cNvPr>
            <p:cNvSpPr/>
            <p:nvPr/>
          </p:nvSpPr>
          <p:spPr>
            <a:xfrm>
              <a:off x="1274251" y="3429619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>
                  <a:solidFill>
                    <a:srgbClr val="004620"/>
                  </a:solidFill>
                  <a:ea typeface="Calibri"/>
                  <a:cs typeface="Calibri"/>
                </a:rPr>
                <a:t>Transfer Learning Setup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D827E1FE-E3C9-192C-2942-2AB20CFEFD8E}"/>
                </a:ext>
              </a:extLst>
            </p:cNvPr>
            <p:cNvSpPr/>
            <p:nvPr/>
          </p:nvSpPr>
          <p:spPr>
            <a:xfrm>
              <a:off x="1329957" y="3749660"/>
              <a:ext cx="4418945" cy="5966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Einfrieren des MobileNetV2-Backbones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MobileSAM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als vorgelagerte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Preprocessing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-Komponente zur Objekterkennung </a:t>
              </a:r>
              <a:endParaRPr lang="de-DE" sz="1350"/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D144B522-74E2-AE9B-A74F-5E8197965B8D}"/>
              </a:ext>
            </a:extLst>
          </p:cNvPr>
          <p:cNvGrpSpPr/>
          <p:nvPr/>
        </p:nvGrpSpPr>
        <p:grpSpPr>
          <a:xfrm>
            <a:off x="548875" y="4472209"/>
            <a:ext cx="5850501" cy="750105"/>
            <a:chOff x="548875" y="4329721"/>
            <a:chExt cx="5850501" cy="750105"/>
          </a:xfrm>
        </p:grpSpPr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B548389A-A8B3-0971-FAB8-AC381589C25C}"/>
                </a:ext>
              </a:extLst>
            </p:cNvPr>
            <p:cNvSpPr/>
            <p:nvPr/>
          </p:nvSpPr>
          <p:spPr>
            <a:xfrm>
              <a:off x="548875" y="4329721"/>
              <a:ext cx="5255637" cy="73152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Shape 4">
              <a:extLst>
                <a:ext uri="{FF2B5EF4-FFF2-40B4-BE49-F238E27FC236}">
                  <a16:creationId xmlns:a16="http://schemas.microsoft.com/office/drawing/2014/main" id="{98257107-29B7-4E88-DDA9-62254820860B}"/>
                </a:ext>
              </a:extLst>
            </p:cNvPr>
            <p:cNvSpPr/>
            <p:nvPr/>
          </p:nvSpPr>
          <p:spPr>
            <a:xfrm>
              <a:off x="548876" y="4342111"/>
              <a:ext cx="92034" cy="737715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41" name="Image 0" descr="Harvey Balls 50% mit einfarbiger Füllung">
              <a:extLst>
                <a:ext uri="{FF2B5EF4-FFF2-40B4-BE49-F238E27FC236}">
                  <a16:creationId xmlns:a16="http://schemas.microsoft.com/office/drawing/2014/main" id="{D52F3AE9-CD80-CE63-ADF0-4A921C22DB9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77476" y="4466881"/>
              <a:ext cx="365760" cy="365760"/>
            </a:xfrm>
            <a:prstGeom prst="rect">
              <a:avLst/>
            </a:prstGeom>
          </p:spPr>
        </p:pic>
        <p:sp>
          <p:nvSpPr>
            <p:cNvPr id="42" name="Text 5">
              <a:extLst>
                <a:ext uri="{FF2B5EF4-FFF2-40B4-BE49-F238E27FC236}">
                  <a16:creationId xmlns:a16="http://schemas.microsoft.com/office/drawing/2014/main" id="{887C0005-DD9D-356D-5FB4-B8C62F83B8C3}"/>
                </a:ext>
              </a:extLst>
            </p:cNvPr>
            <p:cNvSpPr/>
            <p:nvPr/>
          </p:nvSpPr>
          <p:spPr>
            <a:xfrm>
              <a:off x="1280396" y="4332075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err="1">
                  <a:solidFill>
                    <a:srgbClr val="004620"/>
                  </a:solidFill>
                  <a:ea typeface="Calibri"/>
                  <a:cs typeface="Calibri"/>
                </a:rPr>
                <a:t>Klassifikationskopf</a:t>
              </a:r>
              <a:endParaRPr lang="en-US" sz="1600" err="1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43" name="Text 6">
              <a:extLst>
                <a:ext uri="{FF2B5EF4-FFF2-40B4-BE49-F238E27FC236}">
                  <a16:creationId xmlns:a16="http://schemas.microsoft.com/office/drawing/2014/main" id="{B6C4FA45-0264-B520-EF0B-01A578914ED9}"/>
                </a:ext>
              </a:extLst>
            </p:cNvPr>
            <p:cNvSpPr/>
            <p:nvPr/>
          </p:nvSpPr>
          <p:spPr>
            <a:xfrm>
              <a:off x="1280396" y="4674541"/>
              <a:ext cx="5118980" cy="39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Ausgabe: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edible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 /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non_edible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einfacher &amp;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regularisierter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Klassifikationskopfs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03A2752-5F06-A74F-1550-EEF09448AFAD}"/>
              </a:ext>
            </a:extLst>
          </p:cNvPr>
          <p:cNvGrpSpPr/>
          <p:nvPr/>
        </p:nvGrpSpPr>
        <p:grpSpPr>
          <a:xfrm>
            <a:off x="536485" y="5331140"/>
            <a:ext cx="6073526" cy="1034599"/>
            <a:chOff x="536485" y="5331140"/>
            <a:chExt cx="6073526" cy="1034599"/>
          </a:xfrm>
        </p:grpSpPr>
        <p:sp>
          <p:nvSpPr>
            <p:cNvPr id="44" name="Shape 3">
              <a:extLst>
                <a:ext uri="{FF2B5EF4-FFF2-40B4-BE49-F238E27FC236}">
                  <a16:creationId xmlns:a16="http://schemas.microsoft.com/office/drawing/2014/main" id="{C1392881-7CC1-1B2A-E5B6-A39CB12612E1}"/>
                </a:ext>
              </a:extLst>
            </p:cNvPr>
            <p:cNvSpPr/>
            <p:nvPr/>
          </p:nvSpPr>
          <p:spPr>
            <a:xfrm>
              <a:off x="536485" y="5349726"/>
              <a:ext cx="5268027" cy="947866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Shape 4">
              <a:extLst>
                <a:ext uri="{FF2B5EF4-FFF2-40B4-BE49-F238E27FC236}">
                  <a16:creationId xmlns:a16="http://schemas.microsoft.com/office/drawing/2014/main" id="{7EFDDA80-801B-0D32-CC6E-8D2B08E8FB13}"/>
                </a:ext>
              </a:extLst>
            </p:cNvPr>
            <p:cNvSpPr/>
            <p:nvPr/>
          </p:nvSpPr>
          <p:spPr>
            <a:xfrm>
              <a:off x="542681" y="5331140"/>
              <a:ext cx="97366" cy="966452"/>
            </a:xfrm>
            <a:prstGeom prst="rect">
              <a:avLst/>
            </a:prstGeom>
            <a:solidFill>
              <a:srgbClr val="004620"/>
            </a:solidFill>
            <a:ln/>
          </p:spPr>
          <p:txBody>
            <a:bodyPr/>
            <a:lstStyle/>
            <a:p>
              <a:endParaRPr lang="de-DE"/>
            </a:p>
          </p:txBody>
        </p:sp>
        <p:pic>
          <p:nvPicPr>
            <p:cNvPr id="46" name="Image 0" descr="Playbook mit einfarbiger Füllung">
              <a:extLst>
                <a:ext uri="{FF2B5EF4-FFF2-40B4-BE49-F238E27FC236}">
                  <a16:creationId xmlns:a16="http://schemas.microsoft.com/office/drawing/2014/main" id="{0E68B008-A423-199D-C931-777730E238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46500" y="5424936"/>
              <a:ext cx="365760" cy="365760"/>
            </a:xfrm>
            <a:prstGeom prst="rect">
              <a:avLst/>
            </a:prstGeom>
          </p:spPr>
        </p:pic>
        <p:sp>
          <p:nvSpPr>
            <p:cNvPr id="47" name="Text 5">
              <a:extLst>
                <a:ext uri="{FF2B5EF4-FFF2-40B4-BE49-F238E27FC236}">
                  <a16:creationId xmlns:a16="http://schemas.microsoft.com/office/drawing/2014/main" id="{43F29E1B-D01A-22E2-9AA3-8FBC1ECEC3BF}"/>
                </a:ext>
              </a:extLst>
            </p:cNvPr>
            <p:cNvSpPr/>
            <p:nvPr/>
          </p:nvSpPr>
          <p:spPr>
            <a:xfrm>
              <a:off x="1280396" y="5383057"/>
              <a:ext cx="3200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600" b="1" err="1">
                  <a:solidFill>
                    <a:srgbClr val="004620"/>
                  </a:solidFill>
                  <a:ea typeface="Calibri"/>
                  <a:cs typeface="Calibri"/>
                </a:rPr>
                <a:t>Trainingsstrategie</a:t>
              </a:r>
              <a:endParaRPr lang="en-US" sz="1600">
                <a:solidFill>
                  <a:srgbClr val="004620"/>
                </a:solidFill>
                <a:ea typeface="Calibri"/>
                <a:cs typeface="Calibri"/>
              </a:endParaRPr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68C1CCDF-BB42-220D-33BC-617108E01C20}"/>
                </a:ext>
              </a:extLst>
            </p:cNvPr>
            <p:cNvSpPr/>
            <p:nvPr/>
          </p:nvSpPr>
          <p:spPr>
            <a:xfrm>
              <a:off x="1268006" y="5589230"/>
              <a:ext cx="5342005" cy="7765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Modellkomplexität an Datensatz angepasst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Fokus = stabile Lernkurven statt max. Modellkapazität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Vermeidung von </a:t>
              </a:r>
              <a:r>
                <a:rPr lang="de-DE" sz="1350" err="1">
                  <a:solidFill>
                    <a:schemeClr val="bg1"/>
                  </a:solidFill>
                  <a:ea typeface="Calibri"/>
                  <a:cs typeface="Calibri"/>
                </a:rPr>
                <a:t>Overfitting</a:t>
              </a:r>
              <a:r>
                <a:rPr lang="de-DE" sz="1350">
                  <a:solidFill>
                    <a:schemeClr val="bg1"/>
                  </a:solidFill>
                  <a:ea typeface="Calibri"/>
                  <a:cs typeface="Calibri"/>
                </a:rPr>
                <a:t> </a:t>
              </a:r>
            </a:p>
          </p:txBody>
        </p:sp>
      </p:grpSp>
      <p:sp>
        <p:nvSpPr>
          <p:cNvPr id="50" name="Textplatzhalter 1">
            <a:extLst>
              <a:ext uri="{FF2B5EF4-FFF2-40B4-BE49-F238E27FC236}">
                <a16:creationId xmlns:a16="http://schemas.microsoft.com/office/drawing/2014/main" id="{E51B7254-D603-24B2-0535-615DE314621B}"/>
              </a:ext>
            </a:extLst>
          </p:cNvPr>
          <p:cNvSpPr txBox="1">
            <a:spLocks/>
          </p:cNvSpPr>
          <p:nvPr/>
        </p:nvSpPr>
        <p:spPr>
          <a:xfrm>
            <a:off x="745200" y="2167200"/>
            <a:ext cx="4680000" cy="499074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rgbClr val="004620"/>
                </a:solidFill>
              </a:rPr>
              <a:t>Modellarchitektur &amp; Trainingsstrategie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EA91D7E-C802-F605-7A53-B318D8390EBD}"/>
              </a:ext>
            </a:extLst>
          </p:cNvPr>
          <p:cNvGrpSpPr/>
          <p:nvPr/>
        </p:nvGrpSpPr>
        <p:grpSpPr>
          <a:xfrm>
            <a:off x="6515616" y="2560446"/>
            <a:ext cx="2560320" cy="1143868"/>
            <a:chOff x="6228730" y="2237610"/>
            <a:chExt cx="2560320" cy="114386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CB2C590B-C06C-A124-08F8-FC7A59D84428}"/>
                </a:ext>
              </a:extLst>
            </p:cNvPr>
            <p:cNvSpPr/>
            <p:nvPr/>
          </p:nvSpPr>
          <p:spPr>
            <a:xfrm>
              <a:off x="6228730" y="2237610"/>
              <a:ext cx="2560320" cy="1143868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086AF748-0EC4-C53A-48A1-253CD9ED38B9}"/>
                </a:ext>
              </a:extLst>
            </p:cNvPr>
            <p:cNvSpPr/>
            <p:nvPr/>
          </p:nvSpPr>
          <p:spPr>
            <a:xfrm>
              <a:off x="6618190" y="2311155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Validation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49BACCD1-4716-4737-956D-B4045721C575}"/>
                </a:ext>
              </a:extLst>
            </p:cNvPr>
            <p:cNvSpPr/>
            <p:nvPr/>
          </p:nvSpPr>
          <p:spPr>
            <a:xfrm>
              <a:off x="6342840" y="2809603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Evaluation auf separatem Validierungsdatensatz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6151D2E9-476B-689A-5E65-67642BCBDACE}"/>
              </a:ext>
            </a:extLst>
          </p:cNvPr>
          <p:cNvGrpSpPr/>
          <p:nvPr/>
        </p:nvGrpSpPr>
        <p:grpSpPr>
          <a:xfrm>
            <a:off x="9193993" y="2570732"/>
            <a:ext cx="2714702" cy="1119087"/>
            <a:chOff x="6161050" y="2250001"/>
            <a:chExt cx="2714702" cy="1119087"/>
          </a:xfrm>
        </p:grpSpPr>
        <p:sp>
          <p:nvSpPr>
            <p:cNvPr id="51" name="Shape 3">
              <a:extLst>
                <a:ext uri="{FF2B5EF4-FFF2-40B4-BE49-F238E27FC236}">
                  <a16:creationId xmlns:a16="http://schemas.microsoft.com/office/drawing/2014/main" id="{D473C334-F1E5-40CE-3B03-A0E762C4FF2D}"/>
                </a:ext>
              </a:extLst>
            </p:cNvPr>
            <p:cNvSpPr/>
            <p:nvPr/>
          </p:nvSpPr>
          <p:spPr>
            <a:xfrm>
              <a:off x="6241120" y="2250001"/>
              <a:ext cx="2559600" cy="1119087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Text 4">
              <a:extLst>
                <a:ext uri="{FF2B5EF4-FFF2-40B4-BE49-F238E27FC236}">
                  <a16:creationId xmlns:a16="http://schemas.microsoft.com/office/drawing/2014/main" id="{1C7485CC-02D7-EF69-376D-F7D847CE73D0}"/>
                </a:ext>
              </a:extLst>
            </p:cNvPr>
            <p:cNvSpPr/>
            <p:nvPr/>
          </p:nvSpPr>
          <p:spPr>
            <a:xfrm>
              <a:off x="6161050" y="2315602"/>
              <a:ext cx="2714702" cy="2952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Nutzung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mehrerer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Metriken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4" name="Text 5">
              <a:extLst>
                <a:ext uri="{FF2B5EF4-FFF2-40B4-BE49-F238E27FC236}">
                  <a16:creationId xmlns:a16="http://schemas.microsoft.com/office/drawing/2014/main" id="{47E45448-52BB-066A-2F5A-71356A3994F1}"/>
                </a:ext>
              </a:extLst>
            </p:cNvPr>
            <p:cNvSpPr/>
            <p:nvPr/>
          </p:nvSpPr>
          <p:spPr>
            <a:xfrm>
              <a:off x="6365890" y="2790959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Accuracy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, Precision, Recall </a:t>
              </a:r>
            </a:p>
            <a:p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und mehr</a:t>
              </a:r>
              <a:endParaRPr lang="de-DE" sz="140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A48AD19B-DFEA-3FD5-142D-1495EC33D21D}"/>
              </a:ext>
            </a:extLst>
          </p:cNvPr>
          <p:cNvGrpSpPr/>
          <p:nvPr/>
        </p:nvGrpSpPr>
        <p:grpSpPr>
          <a:xfrm>
            <a:off x="6515616" y="3775063"/>
            <a:ext cx="2560320" cy="1280160"/>
            <a:chOff x="6228730" y="2150879"/>
            <a:chExt cx="2560320" cy="1280160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7C03AA91-0A99-243C-0079-D7798737EA38}"/>
                </a:ext>
              </a:extLst>
            </p:cNvPr>
            <p:cNvSpPr/>
            <p:nvPr/>
          </p:nvSpPr>
          <p:spPr>
            <a:xfrm>
              <a:off x="6228730" y="2150879"/>
              <a:ext cx="2560320" cy="128016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Text 4">
              <a:extLst>
                <a:ext uri="{FF2B5EF4-FFF2-40B4-BE49-F238E27FC236}">
                  <a16:creationId xmlns:a16="http://schemas.microsoft.com/office/drawing/2014/main" id="{84703DCD-B05F-BD5A-E81E-E949DFF988F2}"/>
                </a:ext>
              </a:extLst>
            </p:cNvPr>
            <p:cNvSpPr/>
            <p:nvPr/>
          </p:nvSpPr>
          <p:spPr>
            <a:xfrm>
              <a:off x="6594490" y="2247770"/>
              <a:ext cx="18288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Recall </a:t>
              </a:r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non_edible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59" name="Text 5">
              <a:extLst>
                <a:ext uri="{FF2B5EF4-FFF2-40B4-BE49-F238E27FC236}">
                  <a16:creationId xmlns:a16="http://schemas.microsoft.com/office/drawing/2014/main" id="{DE6F1ACD-A14B-6C49-19A5-F13391744843}"/>
                </a:ext>
              </a:extLst>
            </p:cNvPr>
            <p:cNvSpPr/>
            <p:nvPr/>
          </p:nvSpPr>
          <p:spPr>
            <a:xfrm>
              <a:off x="6384475" y="2722812"/>
              <a:ext cx="2286000" cy="5542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Recall der Klasse </a:t>
              </a:r>
              <a:r>
                <a:rPr lang="de-DE" sz="1400" b="1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non_edible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da das Übersehen den 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kritischsten Fehler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darstellt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CFD57F24-F527-0B08-F6C1-C0F09D6B45F4}"/>
              </a:ext>
            </a:extLst>
          </p:cNvPr>
          <p:cNvGrpSpPr/>
          <p:nvPr/>
        </p:nvGrpSpPr>
        <p:grpSpPr>
          <a:xfrm>
            <a:off x="9026506" y="3775063"/>
            <a:ext cx="3030653" cy="1280160"/>
            <a:chOff x="5984052" y="2150879"/>
            <a:chExt cx="3030653" cy="1280160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8ECA90FB-9E8C-1248-2F79-36BDBE310FE5}"/>
                </a:ext>
              </a:extLst>
            </p:cNvPr>
            <p:cNvSpPr/>
            <p:nvPr/>
          </p:nvSpPr>
          <p:spPr>
            <a:xfrm>
              <a:off x="6228730" y="2150879"/>
              <a:ext cx="2560320" cy="128016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Text 4">
              <a:extLst>
                <a:ext uri="{FF2B5EF4-FFF2-40B4-BE49-F238E27FC236}">
                  <a16:creationId xmlns:a16="http://schemas.microsoft.com/office/drawing/2014/main" id="{AA6AF0EC-8E91-CD15-346E-BC6DAF87B31B}"/>
                </a:ext>
              </a:extLst>
            </p:cNvPr>
            <p:cNvSpPr/>
            <p:nvPr/>
          </p:nvSpPr>
          <p:spPr>
            <a:xfrm>
              <a:off x="5984052" y="2259472"/>
              <a:ext cx="3030653" cy="2766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FP und FN</a:t>
              </a:r>
              <a:endParaRPr lang="en-US" sz="1600">
                <a:solidFill>
                  <a:srgbClr val="004620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64" name="Text 5">
              <a:extLst>
                <a:ext uri="{FF2B5EF4-FFF2-40B4-BE49-F238E27FC236}">
                  <a16:creationId xmlns:a16="http://schemas.microsoft.com/office/drawing/2014/main" id="{8502C9C2-2D0F-4C20-C626-028486918329}"/>
                </a:ext>
              </a:extLst>
            </p:cNvPr>
            <p:cNvSpPr/>
            <p:nvPr/>
          </p:nvSpPr>
          <p:spPr>
            <a:xfrm>
              <a:off x="6285353" y="2636081"/>
              <a:ext cx="26143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Analyse von </a:t>
              </a:r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False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Positives und </a:t>
              </a:r>
              <a:r>
                <a:rPr lang="de-DE" sz="1400" err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False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 Negatives. (</a:t>
              </a:r>
              <a:r>
                <a:rPr lang="de-DE" sz="1400" b="1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Fehlerursachen</a:t>
              </a:r>
              <a:r>
                <a:rPr lang="de-DE" sz="1400">
                  <a:solidFill>
                    <a:schemeClr val="bg1"/>
                  </a:solidFill>
                  <a:latin typeface="Calibri"/>
                  <a:ea typeface="Calibri"/>
                  <a:cs typeface="Calibri"/>
                </a:rPr>
                <a:t>)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2253F89C-2BF9-DCE5-9807-DA218DFBA750}"/>
              </a:ext>
            </a:extLst>
          </p:cNvPr>
          <p:cNvGrpSpPr/>
          <p:nvPr/>
        </p:nvGrpSpPr>
        <p:grpSpPr>
          <a:xfrm>
            <a:off x="7506484" y="5152905"/>
            <a:ext cx="4169579" cy="1292550"/>
            <a:chOff x="4482311" y="2169963"/>
            <a:chExt cx="4169579" cy="1292550"/>
          </a:xfrm>
        </p:grpSpPr>
        <p:sp>
          <p:nvSpPr>
            <p:cNvPr id="71" name="Shape 3">
              <a:extLst>
                <a:ext uri="{FF2B5EF4-FFF2-40B4-BE49-F238E27FC236}">
                  <a16:creationId xmlns:a16="http://schemas.microsoft.com/office/drawing/2014/main" id="{18268D79-DB41-D375-4BA9-27087C4F33BE}"/>
                </a:ext>
              </a:extLst>
            </p:cNvPr>
            <p:cNvSpPr/>
            <p:nvPr/>
          </p:nvSpPr>
          <p:spPr>
            <a:xfrm>
              <a:off x="4859608" y="2169963"/>
              <a:ext cx="2560320" cy="1292550"/>
            </a:xfrm>
            <a:prstGeom prst="rect">
              <a:avLst/>
            </a:prstGeom>
            <a:solidFill>
              <a:srgbClr val="F5F5F5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73" name="Text 4">
              <a:extLst>
                <a:ext uri="{FF2B5EF4-FFF2-40B4-BE49-F238E27FC236}">
                  <a16:creationId xmlns:a16="http://schemas.microsoft.com/office/drawing/2014/main" id="{76D9E603-0A6A-19EE-4641-AA5398C3F069}"/>
                </a:ext>
              </a:extLst>
            </p:cNvPr>
            <p:cNvSpPr/>
            <p:nvPr/>
          </p:nvSpPr>
          <p:spPr>
            <a:xfrm>
              <a:off x="4482311" y="2173329"/>
              <a:ext cx="3314914" cy="3545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 err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Prototyp</a:t>
              </a:r>
              <a:r>
                <a:rPr lang="en-US" sz="1600" b="1">
                  <a:solidFill>
                    <a:srgbClr val="004620"/>
                  </a:solidFill>
                  <a:latin typeface="Calibri"/>
                  <a:ea typeface="Calibri"/>
                  <a:cs typeface="Calibri"/>
                </a:rPr>
                <a:t> (Streamlit)</a:t>
              </a:r>
            </a:p>
          </p:txBody>
        </p:sp>
        <p:sp>
          <p:nvSpPr>
            <p:cNvPr id="74" name="Text 5">
              <a:extLst>
                <a:ext uri="{FF2B5EF4-FFF2-40B4-BE49-F238E27FC236}">
                  <a16:creationId xmlns:a16="http://schemas.microsoft.com/office/drawing/2014/main" id="{1852D236-11B1-1410-D775-22D6433B2B3A}"/>
                </a:ext>
              </a:extLst>
            </p:cNvPr>
            <p:cNvSpPr/>
            <p:nvPr/>
          </p:nvSpPr>
          <p:spPr>
            <a:xfrm>
              <a:off x="6365890" y="2790959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de-DE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pic>
        <p:nvPicPr>
          <p:cNvPr id="20" name="Picture 11">
            <a:extLst>
              <a:ext uri="{FF2B5EF4-FFF2-40B4-BE49-F238E27FC236}">
                <a16:creationId xmlns:a16="http://schemas.microsoft.com/office/drawing/2014/main" id="{9BD9CDFB-4884-32A4-4C47-6BFD2ABA849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223"/>
          <a:stretch>
            <a:fillRect/>
          </a:stretch>
        </p:blipFill>
        <p:spPr>
          <a:xfrm>
            <a:off x="8302430" y="5574783"/>
            <a:ext cx="1728110" cy="872006"/>
          </a:xfrm>
          <a:prstGeom prst="rect">
            <a:avLst/>
          </a:prstGeom>
        </p:spPr>
      </p:pic>
      <p:sp>
        <p:nvSpPr>
          <p:cNvPr id="76" name="Textplatzhalter 1">
            <a:extLst>
              <a:ext uri="{FF2B5EF4-FFF2-40B4-BE49-F238E27FC236}">
                <a16:creationId xmlns:a16="http://schemas.microsoft.com/office/drawing/2014/main" id="{4B8DFA85-539A-5705-B5EE-5A0CD3C46889}"/>
              </a:ext>
            </a:extLst>
          </p:cNvPr>
          <p:cNvSpPr txBox="1">
            <a:spLocks/>
          </p:cNvSpPr>
          <p:nvPr/>
        </p:nvSpPr>
        <p:spPr>
          <a:xfrm>
            <a:off x="6513912" y="2185785"/>
            <a:ext cx="5807512" cy="2511510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4"/>
              </a:buClr>
              <a:buFont typeface="Symbol" panose="05050102010706020507" pitchFamily="18" charset="2"/>
              <a:buChar char="-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>
                <a:solidFill>
                  <a:srgbClr val="004620"/>
                </a:solidFill>
              </a:rPr>
              <a:t>Evaluation, Fehlertypen &amp; </a:t>
            </a:r>
            <a:r>
              <a:rPr lang="de-DE" b="1" err="1">
                <a:solidFill>
                  <a:srgbClr val="004620"/>
                </a:solidFill>
              </a:rPr>
              <a:t>Deployment</a:t>
            </a:r>
            <a:r>
              <a:rPr lang="de-DE" b="1">
                <a:solidFill>
                  <a:srgbClr val="004620"/>
                </a:solidFill>
              </a:rPr>
              <a:t>-Abgrenzung</a:t>
            </a:r>
            <a:endParaRPr lang="de-DE" b="1">
              <a:solidFill>
                <a:srgbClr val="004620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628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309D-CCC2-423B-33C0-E799E5B2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2DE8F14-FC05-D499-71F7-E4E6C795071C}"/>
              </a:ext>
            </a:extLst>
          </p:cNvPr>
          <p:cNvGrpSpPr/>
          <p:nvPr/>
        </p:nvGrpSpPr>
        <p:grpSpPr>
          <a:xfrm>
            <a:off x="6362702" y="2233517"/>
            <a:ext cx="5459187" cy="3355287"/>
            <a:chOff x="4846320" y="1371600"/>
            <a:chExt cx="3840480" cy="2926080"/>
          </a:xfrm>
        </p:grpSpPr>
        <p:sp>
          <p:nvSpPr>
            <p:cNvPr id="33" name="Shape 6">
              <a:extLst>
                <a:ext uri="{FF2B5EF4-FFF2-40B4-BE49-F238E27FC236}">
                  <a16:creationId xmlns:a16="http://schemas.microsoft.com/office/drawing/2014/main" id="{66F118A7-6053-9B99-930A-394B7D2F3309}"/>
                </a:ext>
              </a:extLst>
            </p:cNvPr>
            <p:cNvSpPr/>
            <p:nvPr/>
          </p:nvSpPr>
          <p:spPr>
            <a:xfrm>
              <a:off x="4846320" y="1371600"/>
              <a:ext cx="3840480" cy="2926079"/>
            </a:xfrm>
            <a:prstGeom prst="rect">
              <a:avLst/>
            </a:prstGeom>
            <a:solidFill>
              <a:schemeClr val="tx1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Shape 7">
              <a:extLst>
                <a:ext uri="{FF2B5EF4-FFF2-40B4-BE49-F238E27FC236}">
                  <a16:creationId xmlns:a16="http://schemas.microsoft.com/office/drawing/2014/main" id="{89755097-07D3-E062-26ED-6FB060EB5ED5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36DC8A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4F3850D-CFAE-1C81-C04C-DDD01243DD69}"/>
              </a:ext>
            </a:extLst>
          </p:cNvPr>
          <p:cNvGrpSpPr/>
          <p:nvPr/>
        </p:nvGrpSpPr>
        <p:grpSpPr>
          <a:xfrm>
            <a:off x="370113" y="2233517"/>
            <a:ext cx="5459187" cy="3355287"/>
            <a:chOff x="4846320" y="1371600"/>
            <a:chExt cx="3840480" cy="2926080"/>
          </a:xfrm>
        </p:grpSpPr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265D744F-7710-9F66-3528-34E1A1C3EF4F}"/>
                </a:ext>
              </a:extLst>
            </p:cNvPr>
            <p:cNvSpPr/>
            <p:nvPr/>
          </p:nvSpPr>
          <p:spPr>
            <a:xfrm>
              <a:off x="4846320" y="1371600"/>
              <a:ext cx="3840480" cy="2926079"/>
            </a:xfrm>
            <a:prstGeom prst="rect">
              <a:avLst/>
            </a:prstGeom>
            <a:solidFill>
              <a:schemeClr val="tx1"/>
            </a:solidFill>
            <a:ln/>
            <a:effectLst>
              <a:outerShdw blurRad="50800" dist="127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C3468E65-B0F0-C04E-56AF-100DA5640220}"/>
                </a:ext>
              </a:extLst>
            </p:cNvPr>
            <p:cNvSpPr/>
            <p:nvPr/>
          </p:nvSpPr>
          <p:spPr>
            <a:xfrm>
              <a:off x="4846320" y="1371600"/>
              <a:ext cx="54864" cy="2926080"/>
            </a:xfrm>
            <a:prstGeom prst="rect">
              <a:avLst/>
            </a:prstGeom>
            <a:solidFill>
              <a:srgbClr val="36DC8A"/>
            </a:solidFill>
            <a:ln/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8054E4-20B5-AB5C-505C-A36650EFE5B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257" y="796245"/>
            <a:ext cx="6845300" cy="249237"/>
          </a:xfrm>
        </p:spPr>
        <p:txBody>
          <a:bodyPr/>
          <a:lstStyle/>
          <a:p>
            <a:r>
              <a:rPr lang="de-DE">
                <a:cs typeface="Arial"/>
              </a:rPr>
              <a:t>Der </a:t>
            </a:r>
            <a:r>
              <a:rPr lang="de-DE" err="1">
                <a:cs typeface="Arial"/>
              </a:rPr>
              <a:t>Protoyp</a:t>
            </a:r>
            <a:r>
              <a:rPr lang="de-DE">
                <a:cs typeface="Arial"/>
              </a:rPr>
              <a:t> auf </a:t>
            </a:r>
            <a:r>
              <a:rPr lang="de-DE">
                <a:solidFill>
                  <a:srgbClr val="36DC8A"/>
                </a:solidFill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https://freshify.streamlit.app</a:t>
            </a:r>
            <a:r>
              <a:rPr lang="de-DE">
                <a:solidFill>
                  <a:srgbClr val="36DC8A"/>
                </a:solidFill>
                <a:cs typeface="Arial"/>
              </a:rPr>
              <a:t> </a:t>
            </a:r>
            <a:endParaRPr lang="en-US" err="1">
              <a:solidFill>
                <a:srgbClr val="36DC8A"/>
              </a:solidFill>
            </a:endParaRPr>
          </a:p>
        </p:txBody>
      </p:sp>
      <p:sp>
        <p:nvSpPr>
          <p:cNvPr id="22" name="Titel 3">
            <a:extLst>
              <a:ext uri="{FF2B5EF4-FFF2-40B4-BE49-F238E27FC236}">
                <a16:creationId xmlns:a16="http://schemas.microsoft.com/office/drawing/2014/main" id="{5A34AC6D-8913-AB23-C119-3AF024EA704F}"/>
              </a:ext>
            </a:extLst>
          </p:cNvPr>
          <p:cNvSpPr txBox="1">
            <a:spLocks/>
          </p:cNvSpPr>
          <p:nvPr/>
        </p:nvSpPr>
        <p:spPr>
          <a:xfrm>
            <a:off x="518318" y="190386"/>
            <a:ext cx="6844385" cy="5539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solidFill>
                  <a:srgbClr val="36DC8A"/>
                </a:solidFill>
              </a:rPr>
              <a:t>Live-Demo</a:t>
            </a:r>
            <a:endParaRPr lang="en-US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21945C1-FEB3-CD2B-CB9F-D41D1EFE65E5}"/>
              </a:ext>
            </a:extLst>
          </p:cNvPr>
          <p:cNvSpPr txBox="1"/>
          <p:nvPr/>
        </p:nvSpPr>
        <p:spPr>
          <a:xfrm>
            <a:off x="9255471" y="1764000"/>
            <a:ext cx="2916000" cy="307777"/>
          </a:xfrm>
          <a:prstGeom prst="rect">
            <a:avLst/>
          </a:prstGeom>
          <a:solidFill>
            <a:srgbClr val="36DC8A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1400">
                <a:solidFill>
                  <a:schemeClr val="bg1"/>
                </a:solidFill>
              </a:rPr>
              <a:t>CRISP-DM: </a:t>
            </a:r>
            <a:r>
              <a:rPr lang="de-DE" sz="1400" b="1">
                <a:solidFill>
                  <a:schemeClr val="bg1"/>
                </a:solidFill>
              </a:rPr>
              <a:t>06 </a:t>
            </a:r>
            <a:r>
              <a:rPr lang="de-DE" sz="1400" b="1" err="1">
                <a:solidFill>
                  <a:schemeClr val="bg1"/>
                </a:solidFill>
              </a:rPr>
              <a:t>Deployment</a:t>
            </a:r>
            <a:endParaRPr lang="de-DE" sz="1400" b="1">
              <a:solidFill>
                <a:schemeClr val="bg1"/>
              </a:solidFill>
            </a:endParaRP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C492EAF-359A-46EA-3087-87A580ACC6C5}"/>
              </a:ext>
            </a:extLst>
          </p:cNvPr>
          <p:cNvGrpSpPr/>
          <p:nvPr/>
        </p:nvGrpSpPr>
        <p:grpSpPr>
          <a:xfrm>
            <a:off x="4253934" y="6023391"/>
            <a:ext cx="5641306" cy="786414"/>
            <a:chOff x="4253934" y="6023391"/>
            <a:chExt cx="5641306" cy="786414"/>
          </a:xfrm>
        </p:grpSpPr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EEDEBCC2-090A-C54A-DCB7-324E4C211CCC}"/>
                </a:ext>
              </a:extLst>
            </p:cNvPr>
            <p:cNvGrpSpPr/>
            <p:nvPr/>
          </p:nvGrpSpPr>
          <p:grpSpPr>
            <a:xfrm>
              <a:off x="4253934" y="6023391"/>
              <a:ext cx="3690053" cy="786414"/>
              <a:chOff x="3840920" y="6061755"/>
              <a:chExt cx="3690053" cy="786414"/>
            </a:xfrm>
          </p:grpSpPr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DEA665A-0C40-6D9A-2F78-8CB64945EB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0920" y="6061755"/>
                <a:ext cx="1738800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de-DE" sz="800" b="1">
                    <a:cs typeface="Arial"/>
                  </a:rPr>
                  <a:t>Präsentiert vom C-Team: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Leopold Eberlein (23266141)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Felix Geier (22656880)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Lea Herrmann (23065876)</a:t>
                </a:r>
              </a:p>
            </p:txBody>
          </p:sp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2A67D6FD-4FA5-4426-C7FF-19110DFD33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3870" y="6061755"/>
                <a:ext cx="1737103" cy="786414"/>
              </a:xfrm>
              <a:prstGeom prst="rect">
                <a:avLst/>
              </a:prstGeom>
            </p:spPr>
            <p:txBody>
              <a:bodyPr lIns="91440" tIns="45720" rIns="91440" bIns="45720" anchor="t"/>
              <a:lstStyle>
                <a:lvl1pPr marL="0" indent="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2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0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8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6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440000" indent="-180000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Clr>
                    <a:schemeClr val="accent4"/>
                  </a:buClr>
                  <a:buFont typeface="Symbol" panose="05050102010706020507" pitchFamily="18" charset="2"/>
                  <a:buChar char="-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de-DE" sz="800" b="1">
                    <a:cs typeface="Arial"/>
                  </a:rPr>
                  <a:t>Projekt des P-Teams: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Tobias Franz (23227575)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Vincent Schreyer (22951733)</a:t>
                </a:r>
              </a:p>
              <a:p>
                <a:pPr marL="171450" indent="-171450">
                  <a:lnSpc>
                    <a:spcPct val="1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de-DE" sz="800">
                    <a:cs typeface="Arial"/>
                  </a:rPr>
                  <a:t>Tim Walther (23117958)</a:t>
                </a:r>
              </a:p>
            </p:txBody>
          </p:sp>
        </p:grpSp>
        <p:sp>
          <p:nvSpPr>
            <p:cNvPr id="16" name="Textplatzhalter 2">
              <a:extLst>
                <a:ext uri="{FF2B5EF4-FFF2-40B4-BE49-F238E27FC236}">
                  <a16:creationId xmlns:a16="http://schemas.microsoft.com/office/drawing/2014/main" id="{D369FBC3-B461-3F5A-6BB1-7B8E7C74DB76}"/>
                </a:ext>
              </a:extLst>
            </p:cNvPr>
            <p:cNvSpPr txBox="1">
              <a:spLocks/>
            </p:cNvSpPr>
            <p:nvPr/>
          </p:nvSpPr>
          <p:spPr>
            <a:xfrm>
              <a:off x="8158137" y="6023391"/>
              <a:ext cx="1737103" cy="786414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de-DE" sz="800">
                  <a:cs typeface="Arial"/>
                </a:rPr>
                <a:t>GitHub-Repository: </a:t>
              </a:r>
              <a:r>
                <a:rPr lang="de-DE" sz="800" u="sng">
                  <a:solidFill>
                    <a:srgbClr val="36DC8A"/>
                  </a:solidFill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https://github.com/Timbakimbo/Food_Freshness_Categorizer</a:t>
              </a:r>
              <a:endParaRPr lang="de-DE" sz="800" u="sng">
                <a:solidFill>
                  <a:srgbClr val="36DC8A"/>
                </a:solidFill>
                <a:cs typeface="Arial"/>
              </a:endParaRPr>
            </a:p>
            <a:p>
              <a:pPr>
                <a:lnSpc>
                  <a:spcPct val="100000"/>
                </a:lnSpc>
                <a:spcAft>
                  <a:spcPts val="600"/>
                </a:spcAft>
              </a:pPr>
              <a:r>
                <a:rPr lang="de-DE" sz="800">
                  <a:cs typeface="Arial"/>
                </a:rPr>
                <a:t>Prototyp (Streamlit): </a:t>
              </a:r>
              <a:r>
                <a:rPr lang="de-DE" sz="800">
                  <a:solidFill>
                    <a:srgbClr val="36DC8A"/>
                  </a:solidFill>
                  <a:cs typeface="Arial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https://freshify.streamlit.app</a:t>
              </a:r>
              <a:r>
                <a:rPr lang="de-DE" sz="800">
                  <a:cs typeface="Arial"/>
                </a:rPr>
                <a:t> </a:t>
              </a:r>
            </a:p>
          </p:txBody>
        </p:sp>
      </p:grp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88292E5-4AF3-5F85-2ACF-217711AB3687}"/>
              </a:ext>
            </a:extLst>
          </p:cNvPr>
          <p:cNvCxnSpPr/>
          <p:nvPr/>
        </p:nvCxnSpPr>
        <p:spPr>
          <a:xfrm>
            <a:off x="370114" y="5916383"/>
            <a:ext cx="114517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1077942-4659-06D2-C76D-DD366FFCC501}"/>
              </a:ext>
            </a:extLst>
          </p:cNvPr>
          <p:cNvGrpSpPr/>
          <p:nvPr/>
        </p:nvGrpSpPr>
        <p:grpSpPr>
          <a:xfrm>
            <a:off x="3078377" y="2506453"/>
            <a:ext cx="2377622" cy="2809413"/>
            <a:chOff x="4907189" y="2138721"/>
            <a:chExt cx="2377622" cy="280941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0E95829-BA91-8548-0B96-F22FE7A2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07189" y="2577769"/>
              <a:ext cx="2377622" cy="237036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3CF5F1-BAE2-A9B4-C7D6-49F0CA459853}"/>
                </a:ext>
              </a:extLst>
            </p:cNvPr>
            <p:cNvSpPr txBox="1"/>
            <p:nvPr/>
          </p:nvSpPr>
          <p:spPr>
            <a:xfrm>
              <a:off x="5231265" y="2138721"/>
              <a:ext cx="1729468" cy="37471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Scan </a:t>
              </a:r>
              <a:r>
                <a:rPr lang="en-US" sz="2400" b="1" err="1">
                  <a:solidFill>
                    <a:schemeClr val="bg1"/>
                  </a:solidFill>
                  <a:latin typeface="Arial"/>
                  <a:cs typeface="Arial"/>
                </a:rPr>
                <a:t>mich</a:t>
              </a:r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!</a:t>
              </a:r>
              <a:endParaRPr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9367DEE-D095-38D4-792F-E97CADB2AA79}"/>
              </a:ext>
            </a:extLst>
          </p:cNvPr>
          <p:cNvGrpSpPr/>
          <p:nvPr/>
        </p:nvGrpSpPr>
        <p:grpSpPr>
          <a:xfrm>
            <a:off x="515257" y="2072013"/>
            <a:ext cx="2453197" cy="3516793"/>
            <a:chOff x="-3026384" y="1485881"/>
            <a:chExt cx="2453197" cy="35167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0F7032-6000-354D-FC69-3348F96AB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026384" y="2331795"/>
              <a:ext cx="1404311" cy="234452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230A1F9-2F2C-4AB9-23ED-A2B84EF6D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-1867575" y="2658145"/>
              <a:ext cx="1294388" cy="234452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7C9297-11E1-3823-D923-0BA4DB3EC7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342535" y="1485881"/>
              <a:ext cx="1440925" cy="2344529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7B064A5-9D11-1AF0-C897-FC9F494AE87D}"/>
              </a:ext>
            </a:extLst>
          </p:cNvPr>
          <p:cNvGrpSpPr/>
          <p:nvPr/>
        </p:nvGrpSpPr>
        <p:grpSpPr>
          <a:xfrm>
            <a:off x="6701480" y="2848004"/>
            <a:ext cx="4836119" cy="2524895"/>
            <a:chOff x="6808300" y="2565701"/>
            <a:chExt cx="4836119" cy="257235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E0BAAC-31C5-AB81-F97D-AE8D55087A37}"/>
                </a:ext>
              </a:extLst>
            </p:cNvPr>
            <p:cNvSpPr txBox="1"/>
            <p:nvPr/>
          </p:nvSpPr>
          <p:spPr>
            <a:xfrm>
              <a:off x="6808300" y="2565701"/>
              <a:ext cx="4175386" cy="25450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lang="en-US" sz="1600" b="1">
                  <a:solidFill>
                    <a:schemeClr val="bg1"/>
                  </a:solidFill>
                  <a:latin typeface="Arial"/>
                  <a:cs typeface="Arial"/>
                </a:rPr>
                <a:t>Tooling 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(</a:t>
              </a:r>
              <a:r>
                <a:rPr lang="en-US" sz="1600" err="1">
                  <a:solidFill>
                    <a:schemeClr val="bg1"/>
                  </a:solidFill>
                  <a:latin typeface="Arial"/>
                  <a:cs typeface="Arial"/>
                </a:rPr>
                <a:t>im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 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GitHub-Repository</a:t>
              </a:r>
              <a:r>
                <a:rPr lang="en-US" sz="1600">
                  <a:solidFill>
                    <a:schemeClr val="bg1"/>
                  </a:solidFill>
                  <a:latin typeface="Arial"/>
                  <a:cs typeface="Arial"/>
                </a:rPr>
                <a:t>):</a:t>
              </a:r>
              <a:endParaRPr lang="en-US" sz="16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endParaRPr>
            </a:p>
          </p:txBody>
        </p:sp>
        <p:sp>
          <p:nvSpPr>
            <p:cNvPr id="14" name="Textplatzhalter 2">
              <a:extLst>
                <a:ext uri="{FF2B5EF4-FFF2-40B4-BE49-F238E27FC236}">
                  <a16:creationId xmlns:a16="http://schemas.microsoft.com/office/drawing/2014/main" id="{5923163C-23C8-5FF2-1C6F-7254C97CFD8D}"/>
                </a:ext>
              </a:extLst>
            </p:cNvPr>
            <p:cNvSpPr txBox="1">
              <a:spLocks/>
            </p:cNvSpPr>
            <p:nvPr/>
          </p:nvSpPr>
          <p:spPr>
            <a:xfrm>
              <a:off x="7444646" y="2917371"/>
              <a:ext cx="4199773" cy="2220686"/>
            </a:xfrm>
            <a:prstGeom prst="rect">
              <a:avLst/>
            </a:prstGeom>
          </p:spPr>
          <p:txBody>
            <a:bodyPr lIns="91440" tIns="45720" rIns="91440" bIns="45720" anchor="t"/>
            <a:lstStyle>
              <a:lvl1pPr marL="0" indent="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90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08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26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440000" indent="-180000" algn="l" defTabSz="914400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accent4"/>
                </a:buClr>
                <a:buFont typeface="Symbol" panose="05050102010706020507" pitchFamily="18" charset="2"/>
                <a:buChar char="-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1400" b="1">
                  <a:solidFill>
                    <a:schemeClr val="bg1"/>
                  </a:solidFill>
                </a:rPr>
                <a:t>Pipeline &amp; Workflow:</a:t>
              </a:r>
              <a:r>
                <a:rPr lang="de-DE" sz="1400">
                  <a:solidFill>
                    <a:schemeClr val="bg1"/>
                  </a:solidFill>
                </a:rPr>
                <a:t> Python, UV, Jupyter Notebooks</a:t>
              </a:r>
            </a:p>
            <a:p>
              <a:r>
                <a:rPr lang="de-DE" sz="1400" b="1">
                  <a:solidFill>
                    <a:schemeClr val="bg1"/>
                  </a:solidFill>
                </a:rPr>
                <a:t>Deep Learning &amp; Vision:</a:t>
              </a:r>
              <a:r>
                <a:rPr lang="de-DE" sz="1400">
                  <a:solidFill>
                    <a:schemeClr val="bg1"/>
                  </a:solidFill>
                </a:rPr>
                <a:t> Keras, </a:t>
              </a:r>
              <a:r>
                <a:rPr lang="de-DE" sz="1400" err="1">
                  <a:solidFill>
                    <a:schemeClr val="bg1"/>
                  </a:solidFill>
                </a:rPr>
                <a:t>TensorFlow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PyTorch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OpenCV</a:t>
              </a:r>
              <a:endParaRPr lang="de-DE" sz="1400">
                <a:solidFill>
                  <a:schemeClr val="bg1"/>
                </a:solidFill>
              </a:endParaRPr>
            </a:p>
            <a:p>
              <a:r>
                <a:rPr lang="de-DE" sz="1400" b="1">
                  <a:solidFill>
                    <a:schemeClr val="bg1"/>
                  </a:solidFill>
                </a:rPr>
                <a:t>Data Science &amp; Analytics:</a:t>
              </a:r>
              <a:r>
                <a:rPr lang="de-DE" sz="1400">
                  <a:solidFill>
                    <a:schemeClr val="bg1"/>
                  </a:solidFill>
                </a:rPr>
                <a:t> </a:t>
              </a:r>
              <a:r>
                <a:rPr lang="de-DE" sz="1400" err="1">
                  <a:solidFill>
                    <a:schemeClr val="bg1"/>
                  </a:solidFill>
                </a:rPr>
                <a:t>Scikit-learn</a:t>
              </a:r>
              <a:r>
                <a:rPr lang="de-DE" sz="1400">
                  <a:solidFill>
                    <a:schemeClr val="bg1"/>
                  </a:solidFill>
                </a:rPr>
                <a:t>, </a:t>
              </a:r>
              <a:r>
                <a:rPr lang="de-DE" sz="1400" err="1">
                  <a:solidFill>
                    <a:schemeClr val="bg1"/>
                  </a:solidFill>
                </a:rPr>
                <a:t>Matplotlib</a:t>
              </a:r>
              <a:endParaRPr lang="de-DE" sz="1400">
                <a:solidFill>
                  <a:schemeClr val="bg1"/>
                </a:solidFill>
              </a:endParaRPr>
            </a:p>
            <a:p>
              <a:r>
                <a:rPr lang="de-DE" sz="1400" b="1" err="1">
                  <a:solidFill>
                    <a:schemeClr val="bg1"/>
                  </a:solidFill>
                </a:rPr>
                <a:t>Deployment</a:t>
              </a:r>
              <a:r>
                <a:rPr lang="de-DE" sz="1400" b="1">
                  <a:solidFill>
                    <a:schemeClr val="bg1"/>
                  </a:solidFill>
                </a:rPr>
                <a:t>:</a:t>
              </a:r>
              <a:r>
                <a:rPr lang="de-DE" sz="1400">
                  <a:solidFill>
                    <a:schemeClr val="bg1"/>
                  </a:solidFill>
                </a:rPr>
                <a:t> </a:t>
              </a:r>
              <a:r>
                <a:rPr lang="de-DE" sz="1400" err="1">
                  <a:solidFill>
                    <a:schemeClr val="bg1"/>
                  </a:solidFill>
                </a:rPr>
                <a:t>Streamlit</a:t>
              </a:r>
              <a:endParaRPr lang="de-DE" sz="1400">
                <a:solidFill>
                  <a:schemeClr val="bg1"/>
                </a:solidFill>
              </a:endParaRPr>
            </a:p>
          </p:txBody>
        </p:sp>
      </p:grpSp>
      <p:pic>
        <p:nvPicPr>
          <p:cNvPr id="36" name="Grafik 35" descr="Puzzle mit einfarbiger Füllung">
            <a:extLst>
              <a:ext uri="{FF2B5EF4-FFF2-40B4-BE49-F238E27FC236}">
                <a16:creationId xmlns:a16="http://schemas.microsoft.com/office/drawing/2014/main" id="{C7C5694E-A18D-B1E7-B616-799295A44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3256575"/>
            <a:ext cx="340589" cy="340589"/>
          </a:xfrm>
          <a:prstGeom prst="rect">
            <a:avLst/>
          </a:prstGeom>
        </p:spPr>
      </p:pic>
      <p:pic>
        <p:nvPicPr>
          <p:cNvPr id="37" name="Grafik 36" descr="Puzzle mit einfarbiger Füllung">
            <a:extLst>
              <a:ext uri="{FF2B5EF4-FFF2-40B4-BE49-F238E27FC236}">
                <a16:creationId xmlns:a16="http://schemas.microsoft.com/office/drawing/2014/main" id="{1E1750D5-3088-4CF1-5231-E91A3BF7C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3884588"/>
            <a:ext cx="340589" cy="340589"/>
          </a:xfrm>
          <a:prstGeom prst="rect">
            <a:avLst/>
          </a:prstGeom>
        </p:spPr>
      </p:pic>
      <p:pic>
        <p:nvPicPr>
          <p:cNvPr id="38" name="Grafik 37" descr="Puzzle mit einfarbiger Füllung">
            <a:extLst>
              <a:ext uri="{FF2B5EF4-FFF2-40B4-BE49-F238E27FC236}">
                <a16:creationId xmlns:a16="http://schemas.microsoft.com/office/drawing/2014/main" id="{2DEB7B4C-77B5-4357-F686-89D93255B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3536" y="4417232"/>
            <a:ext cx="340589" cy="340589"/>
          </a:xfrm>
          <a:prstGeom prst="rect">
            <a:avLst/>
          </a:prstGeom>
        </p:spPr>
      </p:pic>
      <p:pic>
        <p:nvPicPr>
          <p:cNvPr id="39" name="Grafik 38" descr="Puzzle mit einfarbiger Füllung">
            <a:extLst>
              <a:ext uri="{FF2B5EF4-FFF2-40B4-BE49-F238E27FC236}">
                <a16:creationId xmlns:a16="http://schemas.microsoft.com/office/drawing/2014/main" id="{68DC5430-22FC-D998-8097-E87C9B2D3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54699" y="4853191"/>
            <a:ext cx="340589" cy="3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939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2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AU Erlangen-Nürnberg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AB4093DD916354E9F891F05E287D813" ma:contentTypeVersion="6" ma:contentTypeDescription="Ein neues Dokument erstellen." ma:contentTypeScope="" ma:versionID="eec354064224780a5ea5e2597af8b854">
  <xsd:schema xmlns:xsd="http://www.w3.org/2001/XMLSchema" xmlns:xs="http://www.w3.org/2001/XMLSchema" xmlns:p="http://schemas.microsoft.com/office/2006/metadata/properties" xmlns:ns3="019e9604-f1d2-4940-bee9-ea56a4a2c112" targetNamespace="http://schemas.microsoft.com/office/2006/metadata/properties" ma:root="true" ma:fieldsID="66b5c6e289e8941a4253d2b23c130fe8" ns3:_="">
    <xsd:import namespace="019e9604-f1d2-4940-bee9-ea56a4a2c1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e9604-f1d2-4940-bee9-ea56a4a2c1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9e9604-f1d2-4940-bee9-ea56a4a2c11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1B84C7-19DD-4482-85C7-3128B8CCC92E}">
  <ds:schemaRefs>
    <ds:schemaRef ds:uri="019e9604-f1d2-4940-bee9-ea56a4a2c11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C1A7FE3-81F7-4596-A188-3EE8D4188E1F}">
  <ds:schemaRefs>
    <ds:schemaRef ds:uri="019e9604-f1d2-4940-bee9-ea56a4a2c1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freshify_Vorlage</Template>
  <TotalTime>0</TotalTime>
  <Application>Microsoft Office PowerPoint</Application>
  <PresentationFormat>Breitbild</PresentationFormat>
  <Slides>5</Slides>
  <Notes>1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FAU Erlangen-Nürnberg</vt:lpstr>
      <vt:lpstr>ML-Applikation freshify</vt:lpstr>
      <vt:lpstr>Definition von Zielen und Rahmenbedingungen</vt:lpstr>
      <vt:lpstr>Sammeln und Verarbeiten der Daten</vt:lpstr>
      <vt:lpstr>Modellieren, Fine-tunen &amp; Selektieren​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ML-Applikation freshify</dc:title>
  <dc:creator>Vincent Schreyer</dc:creator>
  <cp:revision>3</cp:revision>
  <dcterms:created xsi:type="dcterms:W3CDTF">2026-06-12T12:45:40Z</dcterms:created>
  <dcterms:modified xsi:type="dcterms:W3CDTF">2026-06-26T09:47:55Z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0x010100EAB4093DD916354E9F891F05E287D813</vt:lpwstr>
  </property>
</Properties>
</file>